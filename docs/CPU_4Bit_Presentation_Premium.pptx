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274320" cy="5143500"/>
          </a:xfrm>
          <a:prstGeom prst="rect">
            <a:avLst/>
          </a:prstGeom>
          <a:solidFill>
            <a:srgbClr val="0D9488"/>
          </a:solidFill>
          <a:ln/>
        </p:spPr>
      </p:sp>
      <p:sp>
        <p:nvSpPr>
          <p:cNvPr id="3" name="Text 1"/>
          <p:cNvSpPr/>
          <p:nvPr/>
        </p:nvSpPr>
        <p:spPr>
          <a:xfrm>
            <a:off x="914400" y="1463040"/>
            <a:ext cx="7772400" cy="274320"/>
          </a:xfrm>
          <a:prstGeom prst="rect">
            <a:avLst/>
          </a:prstGeom>
          <a:noFill/>
          <a:ln/>
        </p:spPr>
        <p:txBody>
          <a:bodyPr wrap="square" lIns="0" tIns="0" rIns="0" bIns="0" rtlCol="0" anchor="ctr"/>
          <a:lstStyle/>
          <a:p>
            <a:pPr indent="0" marL="0">
              <a:buNone/>
            </a:pPr>
            <a:r>
              <a:rPr lang="en-US" sz="1200" b="1" spc="400" kern="0" dirty="0">
                <a:solidFill>
                  <a:srgbClr val="0D9488"/>
                </a:solidFill>
                <a:latin typeface="Calibri" pitchFamily="34" charset="0"/>
                <a:ea typeface="Calibri" pitchFamily="34" charset="-122"/>
                <a:cs typeface="Calibri" pitchFamily="34" charset="-120"/>
              </a:rPr>
              <a:t>ĐỒ ÁN MÔN HỌC THIẾT KẾ VI MẠCH ĐIỆN TỬ</a:t>
            </a:r>
            <a:endParaRPr lang="en-US" sz="1200" dirty="0"/>
          </a:p>
        </p:txBody>
      </p:sp>
      <p:sp>
        <p:nvSpPr>
          <p:cNvPr id="4" name="Text 2"/>
          <p:cNvSpPr/>
          <p:nvPr/>
        </p:nvSpPr>
        <p:spPr>
          <a:xfrm>
            <a:off x="914400" y="1828800"/>
            <a:ext cx="7772400" cy="1280160"/>
          </a:xfrm>
          <a:prstGeom prst="rect">
            <a:avLst/>
          </a:prstGeom>
          <a:noFill/>
          <a:ln/>
        </p:spPr>
        <p:txBody>
          <a:bodyPr wrap="square" lIns="0" tIns="0" rIns="0" bIns="0" rtlCol="0" anchor="ctr"/>
          <a:lstStyle/>
          <a:p>
            <a:pPr indent="0" marL="0">
              <a:buNone/>
            </a:pPr>
            <a:r>
              <a:rPr lang="en-US" sz="4200" b="1" dirty="0">
                <a:solidFill>
                  <a:srgbClr val="FFFFFF"/>
                </a:solidFill>
                <a:latin typeface="Georgia" pitchFamily="34" charset="0"/>
                <a:ea typeface="Georgia" pitchFamily="34" charset="-122"/>
                <a:cs typeface="Georgia" pitchFamily="34" charset="-120"/>
              </a:rPr>
              <a:t>Thiết Kế CPU 4-Bit</a:t>
            </a:r>
            <a:endParaRPr lang="en-US" sz="4200" dirty="0"/>
          </a:p>
          <a:p>
            <a:pPr indent="0" marL="0">
              <a:buNone/>
            </a:pPr>
            <a:r>
              <a:rPr lang="en-US" sz="4200" b="1" dirty="0">
                <a:solidFill>
                  <a:srgbClr val="FFFFFF"/>
                </a:solidFill>
                <a:latin typeface="Georgia" pitchFamily="34" charset="0"/>
                <a:ea typeface="Georgia" pitchFamily="34" charset="-122"/>
                <a:cs typeface="Georgia" pitchFamily="34" charset="-120"/>
              </a:rPr>
              <a:t>Dùng Quy Trình RTL Flow</a:t>
            </a:r>
            <a:endParaRPr lang="en-US" sz="4200" dirty="0"/>
          </a:p>
        </p:txBody>
      </p:sp>
      <p:sp>
        <p:nvSpPr>
          <p:cNvPr id="5" name="Text 3"/>
          <p:cNvSpPr/>
          <p:nvPr/>
        </p:nvSpPr>
        <p:spPr>
          <a:xfrm>
            <a:off x="914400" y="3200400"/>
            <a:ext cx="7772400" cy="365760"/>
          </a:xfrm>
          <a:prstGeom prst="rect">
            <a:avLst/>
          </a:prstGeom>
          <a:noFill/>
          <a:ln/>
        </p:spPr>
        <p:txBody>
          <a:bodyPr wrap="square" lIns="0" tIns="0" rIns="0" bIns="0" rtlCol="0" anchor="ctr"/>
          <a:lstStyle/>
          <a:p>
            <a:pPr indent="0" marL="0">
              <a:buNone/>
            </a:pPr>
            <a:r>
              <a:rPr lang="en-US" sz="1400" dirty="0">
                <a:solidFill>
                  <a:srgbClr val="94A3B8"/>
                </a:solidFill>
                <a:latin typeface="Calibri" pitchFamily="34" charset="0"/>
                <a:ea typeface="Calibri" pitchFamily="34" charset="-122"/>
                <a:cs typeface="Calibri" pitchFamily="34" charset="-120"/>
              </a:rPr>
              <a:t>Quy trình thiết kế mạch số trên ngôn ngữ Verilog | Mô phỏng kiểm thử chuyên sâu</a:t>
            </a:r>
            <a:endParaRPr lang="en-US" sz="1400" dirty="0"/>
          </a:p>
        </p:txBody>
      </p:sp>
      <p:sp>
        <p:nvSpPr>
          <p:cNvPr id="6" name="Shape 4"/>
          <p:cNvSpPr/>
          <p:nvPr/>
        </p:nvSpPr>
        <p:spPr>
          <a:xfrm>
            <a:off x="914400" y="3749040"/>
            <a:ext cx="2286000" cy="0"/>
          </a:xfrm>
          <a:prstGeom prst="line">
            <a:avLst/>
          </a:prstGeom>
          <a:noFill/>
          <a:ln w="25400">
            <a:solidFill>
              <a:srgbClr val="0D9488"/>
            </a:solidFill>
            <a:prstDash val="solid"/>
          </a:ln>
        </p:spPr>
      </p:sp>
      <p:sp>
        <p:nvSpPr>
          <p:cNvPr id="7" name="Text 5"/>
          <p:cNvSpPr/>
          <p:nvPr/>
        </p:nvSpPr>
        <p:spPr>
          <a:xfrm>
            <a:off x="914400" y="3931920"/>
            <a:ext cx="4572000" cy="274320"/>
          </a:xfrm>
          <a:prstGeom prst="rect">
            <a:avLst/>
          </a:prstGeom>
          <a:noFill/>
          <a:ln/>
        </p:spPr>
        <p:txBody>
          <a:bodyPr wrap="square" lIns="0" tIns="0" rIns="0" bIns="0"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Học kỳ 3 (2025-2026) | Topic số 7</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31520" y="365760"/>
            <a:ext cx="7315200" cy="228600"/>
          </a:xfrm>
          <a:prstGeom prst="rect">
            <a:avLst/>
          </a:prstGeom>
          <a:noFill/>
          <a:ln/>
        </p:spPr>
        <p:txBody>
          <a:bodyPr wrap="square" lIns="0" tIns="0" rIns="0" bIns="0" rtlCol="0" anchor="ctr"/>
          <a:lstStyle/>
          <a:p>
            <a:pPr indent="0" marL="0">
              <a:buNone/>
            </a:pPr>
            <a:r>
              <a:rPr lang="en-US" sz="1000" b="1" spc="300" kern="0" dirty="0">
                <a:solidFill>
                  <a:srgbClr val="0D9488"/>
                </a:solidFill>
                <a:latin typeface="Calibri" pitchFamily="34" charset="0"/>
                <a:ea typeface="Calibri" pitchFamily="34" charset="-122"/>
                <a:cs typeface="Calibri" pitchFamily="34" charset="-120"/>
              </a:rPr>
              <a:t>TỔNG QUAN ĐỀ TÀI</a:t>
            </a:r>
            <a:endParaRPr lang="en-US" sz="1000" dirty="0"/>
          </a:p>
        </p:txBody>
      </p:sp>
      <p:sp>
        <p:nvSpPr>
          <p:cNvPr id="3" name="Text 1"/>
          <p:cNvSpPr/>
          <p:nvPr/>
        </p:nvSpPr>
        <p:spPr>
          <a:xfrm>
            <a:off x="731520" y="594360"/>
            <a:ext cx="7315200" cy="457200"/>
          </a:xfrm>
          <a:prstGeom prst="rect">
            <a:avLst/>
          </a:prstGeom>
          <a:noFill/>
          <a:ln/>
        </p:spPr>
        <p:txBody>
          <a:bodyPr wrap="square" lIns="0" tIns="0" rIns="0" bIns="0" rtlCol="0" anchor="ctr"/>
          <a:lstStyle/>
          <a:p>
            <a:pPr indent="0" marL="0">
              <a:buNone/>
            </a:pPr>
            <a:r>
              <a:rPr lang="en-US" sz="2600" b="1" dirty="0">
                <a:solidFill>
                  <a:srgbClr val="1E293B"/>
                </a:solidFill>
                <a:latin typeface="Georgia" pitchFamily="34" charset="0"/>
                <a:ea typeface="Georgia" pitchFamily="34" charset="-122"/>
                <a:cs typeface="Georgia" pitchFamily="34" charset="-120"/>
              </a:rPr>
              <a:t>Đặc Tả Kiến Trúc CPU 4-Bit</a:t>
            </a:r>
            <a:endParaRPr lang="en-US" sz="2600" dirty="0"/>
          </a:p>
        </p:txBody>
      </p:sp>
      <p:sp>
        <p:nvSpPr>
          <p:cNvPr id="4" name="Shape 2"/>
          <p:cNvSpPr/>
          <p:nvPr/>
        </p:nvSpPr>
        <p:spPr>
          <a:xfrm>
            <a:off x="731520" y="1280160"/>
            <a:ext cx="2377440" cy="3291840"/>
          </a:xfrm>
          <a:prstGeom prst="rect">
            <a:avLst/>
          </a:prstGeom>
          <a:solidFill>
            <a:srgbClr val="FFFFFF"/>
          </a:solidFill>
          <a:ln w="12700">
            <a:solidFill>
              <a:srgbClr val="E2E8F0"/>
            </a:solidFill>
            <a:prstDash val="solid"/>
          </a:ln>
          <a:effectLst>
            <a:outerShdw sx="100000" sy="100000" kx="0" ky="0" algn="bl" rotWithShape="0" blurRad="101600" dist="25400" dir="8100000">
              <a:srgbClr val="0F172A">
                <a:alpha val="8000"/>
              </a:srgbClr>
            </a:outerShdw>
          </a:effectLst>
        </p:spPr>
      </p:sp>
      <p:sp>
        <p:nvSpPr>
          <p:cNvPr id="5" name="Shape 3"/>
          <p:cNvSpPr/>
          <p:nvPr/>
        </p:nvSpPr>
        <p:spPr>
          <a:xfrm>
            <a:off x="731520" y="1280160"/>
            <a:ext cx="2377440" cy="137160"/>
          </a:xfrm>
          <a:prstGeom prst="rect">
            <a:avLst/>
          </a:prstGeom>
          <a:solidFill>
            <a:srgbClr val="1E293B"/>
          </a:solidFill>
          <a:ln/>
        </p:spPr>
      </p:sp>
      <p:sp>
        <p:nvSpPr>
          <p:cNvPr id="6" name="Text 4"/>
          <p:cNvSpPr/>
          <p:nvPr/>
        </p:nvSpPr>
        <p:spPr>
          <a:xfrm>
            <a:off x="914400" y="1554480"/>
            <a:ext cx="914400" cy="365760"/>
          </a:xfrm>
          <a:prstGeom prst="rect">
            <a:avLst/>
          </a:prstGeom>
          <a:noFill/>
          <a:ln/>
        </p:spPr>
        <p:txBody>
          <a:bodyPr wrap="square" lIns="0" tIns="0" rIns="0" bIns="0" rtlCol="0" anchor="ctr"/>
          <a:lstStyle/>
          <a:p>
            <a:pPr indent="0" marL="0">
              <a:buNone/>
            </a:pPr>
            <a:r>
              <a:rPr lang="en-US" sz="2400" b="1" dirty="0">
                <a:solidFill>
                  <a:srgbClr val="0D9488"/>
                </a:solidFill>
                <a:latin typeface="Georgia" pitchFamily="34" charset="0"/>
                <a:ea typeface="Georgia" pitchFamily="34" charset="-122"/>
                <a:cs typeface="Georgia" pitchFamily="34" charset="-120"/>
              </a:rPr>
              <a:t>01</a:t>
            </a:r>
            <a:endParaRPr lang="en-US" sz="2400" dirty="0"/>
          </a:p>
        </p:txBody>
      </p:sp>
      <p:sp>
        <p:nvSpPr>
          <p:cNvPr id="7" name="Text 5"/>
          <p:cNvSpPr/>
          <p:nvPr/>
        </p:nvSpPr>
        <p:spPr>
          <a:xfrm>
            <a:off x="914400" y="2011680"/>
            <a:ext cx="2011680" cy="365760"/>
          </a:xfrm>
          <a:prstGeom prst="rect">
            <a:avLst/>
          </a:prstGeom>
          <a:noFill/>
          <a:ln/>
        </p:spPr>
        <p:txBody>
          <a:bodyPr wrap="square" lIns="0" tIns="0" rIns="0" bIns="0" rtlCol="0" anchor="ctr"/>
          <a:lstStyle/>
          <a:p>
            <a:pPr indent="0" marL="0">
              <a:buNone/>
            </a:pPr>
            <a:r>
              <a:rPr lang="en-US" sz="1600" b="1" dirty="0">
                <a:solidFill>
                  <a:srgbClr val="1E293B"/>
                </a:solidFill>
                <a:latin typeface="Georgia" pitchFamily="34" charset="0"/>
                <a:ea typeface="Georgia" pitchFamily="34" charset="-122"/>
                <a:cs typeface="Georgia" pitchFamily="34" charset="-120"/>
              </a:rPr>
              <a:t>Kiến trúc Harvard</a:t>
            </a:r>
            <a:endParaRPr lang="en-US" sz="1600" dirty="0"/>
          </a:p>
        </p:txBody>
      </p:sp>
      <p:sp>
        <p:nvSpPr>
          <p:cNvPr id="8" name="Text 6"/>
          <p:cNvSpPr/>
          <p:nvPr/>
        </p:nvSpPr>
        <p:spPr>
          <a:xfrm>
            <a:off x="914400" y="2468880"/>
            <a:ext cx="2011680" cy="1828800"/>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Bộ nhớ dữ liệu (RAM) và Bộ nhớ chỉ lệnh (ROM) được tách biệt hoàn toàn về đường truyền vật lý.</a:t>
            </a:r>
            <a:endParaRPr lang="en-US" sz="1200" dirty="0"/>
          </a:p>
          <a:p>
            <a:pPr indent="0" marL="0">
              <a:buNone/>
            </a:pPr>
            <a:endParaRPr lang="en-US" sz="1200" dirty="0"/>
          </a:p>
          <a:p>
            <a:pPr indent="0" marL="0">
              <a:buNone/>
            </a:pPr>
            <a:r>
              <a:rPr lang="en-US" sz="1200" dirty="0">
                <a:solidFill>
                  <a:srgbClr val="475569"/>
                </a:solidFill>
                <a:latin typeface="Calibri" pitchFamily="34" charset="0"/>
                <a:ea typeface="Calibri" pitchFamily="34" charset="-122"/>
                <a:cs typeface="Calibri" pitchFamily="34" charset="-120"/>
              </a:rPr>
              <a:t>Cho phép nạp lệnh từ ROM và đọc/ghi RAM dữ liệu trong cùng một thời điểm mà không xảy ra xung đột bus.</a:t>
            </a:r>
            <a:endParaRPr lang="en-US" sz="1200" dirty="0"/>
          </a:p>
        </p:txBody>
      </p:sp>
      <p:sp>
        <p:nvSpPr>
          <p:cNvPr id="9" name="Shape 7"/>
          <p:cNvSpPr/>
          <p:nvPr/>
        </p:nvSpPr>
        <p:spPr>
          <a:xfrm>
            <a:off x="3474720" y="1280160"/>
            <a:ext cx="2377440" cy="3291840"/>
          </a:xfrm>
          <a:prstGeom prst="rect">
            <a:avLst/>
          </a:prstGeom>
          <a:solidFill>
            <a:srgbClr val="FFFFFF"/>
          </a:solidFill>
          <a:ln w="12700">
            <a:solidFill>
              <a:srgbClr val="E2E8F0"/>
            </a:solidFill>
            <a:prstDash val="solid"/>
          </a:ln>
          <a:effectLst>
            <a:outerShdw sx="100000" sy="100000" kx="0" ky="0" algn="bl" rotWithShape="0" blurRad="101600" dist="25400" dir="8100000">
              <a:srgbClr val="0F172A">
                <a:alpha val="8000"/>
              </a:srgbClr>
            </a:outerShdw>
          </a:effectLst>
        </p:spPr>
      </p:sp>
      <p:sp>
        <p:nvSpPr>
          <p:cNvPr id="10" name="Shape 8"/>
          <p:cNvSpPr/>
          <p:nvPr/>
        </p:nvSpPr>
        <p:spPr>
          <a:xfrm>
            <a:off x="3474720" y="1280160"/>
            <a:ext cx="2377440" cy="137160"/>
          </a:xfrm>
          <a:prstGeom prst="rect">
            <a:avLst/>
          </a:prstGeom>
          <a:solidFill>
            <a:srgbClr val="0D9488"/>
          </a:solidFill>
          <a:ln/>
        </p:spPr>
      </p:sp>
      <p:sp>
        <p:nvSpPr>
          <p:cNvPr id="11" name="Text 9"/>
          <p:cNvSpPr/>
          <p:nvPr/>
        </p:nvSpPr>
        <p:spPr>
          <a:xfrm>
            <a:off x="3657600" y="1554480"/>
            <a:ext cx="914400" cy="365760"/>
          </a:xfrm>
          <a:prstGeom prst="rect">
            <a:avLst/>
          </a:prstGeom>
          <a:noFill/>
          <a:ln/>
        </p:spPr>
        <p:txBody>
          <a:bodyPr wrap="square" lIns="0" tIns="0" rIns="0" bIns="0" rtlCol="0" anchor="ctr"/>
          <a:lstStyle/>
          <a:p>
            <a:pPr indent="0" marL="0">
              <a:buNone/>
            </a:pPr>
            <a:r>
              <a:rPr lang="en-US" sz="2400" b="1" dirty="0">
                <a:solidFill>
                  <a:srgbClr val="0D9488"/>
                </a:solidFill>
                <a:latin typeface="Georgia" pitchFamily="34" charset="0"/>
                <a:ea typeface="Georgia" pitchFamily="34" charset="-122"/>
                <a:cs typeface="Georgia" pitchFamily="34" charset="-120"/>
              </a:rPr>
              <a:t>02</a:t>
            </a:r>
            <a:endParaRPr lang="en-US" sz="2400" dirty="0"/>
          </a:p>
        </p:txBody>
      </p:sp>
      <p:sp>
        <p:nvSpPr>
          <p:cNvPr id="12" name="Text 10"/>
          <p:cNvSpPr/>
          <p:nvPr/>
        </p:nvSpPr>
        <p:spPr>
          <a:xfrm>
            <a:off x="3657600" y="2011680"/>
            <a:ext cx="2011680" cy="365760"/>
          </a:xfrm>
          <a:prstGeom prst="rect">
            <a:avLst/>
          </a:prstGeom>
          <a:noFill/>
          <a:ln/>
        </p:spPr>
        <p:txBody>
          <a:bodyPr wrap="square" lIns="0" tIns="0" rIns="0" bIns="0" rtlCol="0" anchor="ctr"/>
          <a:lstStyle/>
          <a:p>
            <a:pPr indent="0" marL="0">
              <a:buNone/>
            </a:pPr>
            <a:r>
              <a:rPr lang="en-US" sz="1600" b="1" dirty="0">
                <a:solidFill>
                  <a:srgbClr val="1E293B"/>
                </a:solidFill>
                <a:latin typeface="Georgia" pitchFamily="34" charset="0"/>
                <a:ea typeface="Georgia" pitchFamily="34" charset="-122"/>
                <a:cs typeface="Georgia" pitchFamily="34" charset="-120"/>
              </a:rPr>
              <a:t>Single-Cycle Core</a:t>
            </a:r>
            <a:endParaRPr lang="en-US" sz="1600" dirty="0"/>
          </a:p>
        </p:txBody>
      </p:sp>
      <p:sp>
        <p:nvSpPr>
          <p:cNvPr id="13" name="Text 11"/>
          <p:cNvSpPr/>
          <p:nvPr/>
        </p:nvSpPr>
        <p:spPr>
          <a:xfrm>
            <a:off x="3657600" y="2468880"/>
            <a:ext cx="2011680" cy="1828800"/>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Mỗi chu kỳ xung nhịp (clock edge) thực thi hoàn chỉnh đúng một lệnh.</a:t>
            </a:r>
            <a:endParaRPr lang="en-US" sz="1200" dirty="0"/>
          </a:p>
          <a:p>
            <a:pPr indent="0" marL="0">
              <a:buNone/>
            </a:pPr>
            <a:endParaRPr lang="en-US" sz="1200" dirty="0"/>
          </a:p>
          <a:p>
            <a:pPr indent="0" marL="0">
              <a:buNone/>
            </a:pPr>
            <a:r>
              <a:rPr lang="en-US" sz="1200" dirty="0">
                <a:solidFill>
                  <a:srgbClr val="475569"/>
                </a:solidFill>
                <a:latin typeface="Calibri" pitchFamily="34" charset="0"/>
                <a:ea typeface="Calibri" pitchFamily="34" charset="-122"/>
                <a:cs typeface="Calibri" pitchFamily="34" charset="-120"/>
              </a:rPr>
              <a:t>Đơn giản hóa khối điều khiển điều hướng, tối ưu hóa quá trình kiểm tra chức năng logic của mạch xử lý.</a:t>
            </a:r>
            <a:endParaRPr lang="en-US" sz="1200" dirty="0"/>
          </a:p>
        </p:txBody>
      </p:sp>
      <p:sp>
        <p:nvSpPr>
          <p:cNvPr id="14" name="Shape 12"/>
          <p:cNvSpPr/>
          <p:nvPr/>
        </p:nvSpPr>
        <p:spPr>
          <a:xfrm>
            <a:off x="6217920" y="1280160"/>
            <a:ext cx="2377440" cy="3291840"/>
          </a:xfrm>
          <a:prstGeom prst="rect">
            <a:avLst/>
          </a:prstGeom>
          <a:solidFill>
            <a:srgbClr val="FFFFFF"/>
          </a:solidFill>
          <a:ln w="12700">
            <a:solidFill>
              <a:srgbClr val="E2E8F0"/>
            </a:solidFill>
            <a:prstDash val="solid"/>
          </a:ln>
          <a:effectLst>
            <a:outerShdw sx="100000" sy="100000" kx="0" ky="0" algn="bl" rotWithShape="0" blurRad="101600" dist="25400" dir="8100000">
              <a:srgbClr val="0F172A">
                <a:alpha val="8000"/>
              </a:srgbClr>
            </a:outerShdw>
          </a:effectLst>
        </p:spPr>
      </p:sp>
      <p:sp>
        <p:nvSpPr>
          <p:cNvPr id="15" name="Shape 13"/>
          <p:cNvSpPr/>
          <p:nvPr/>
        </p:nvSpPr>
        <p:spPr>
          <a:xfrm>
            <a:off x="6217920" y="1280160"/>
            <a:ext cx="2377440" cy="137160"/>
          </a:xfrm>
          <a:prstGeom prst="rect">
            <a:avLst/>
          </a:prstGeom>
          <a:solidFill>
            <a:srgbClr val="1E293B"/>
          </a:solidFill>
          <a:ln/>
        </p:spPr>
      </p:sp>
      <p:sp>
        <p:nvSpPr>
          <p:cNvPr id="16" name="Text 14"/>
          <p:cNvSpPr/>
          <p:nvPr/>
        </p:nvSpPr>
        <p:spPr>
          <a:xfrm>
            <a:off x="6400800" y="1554480"/>
            <a:ext cx="914400" cy="365760"/>
          </a:xfrm>
          <a:prstGeom prst="rect">
            <a:avLst/>
          </a:prstGeom>
          <a:noFill/>
          <a:ln/>
        </p:spPr>
        <p:txBody>
          <a:bodyPr wrap="square" lIns="0" tIns="0" rIns="0" bIns="0" rtlCol="0" anchor="ctr"/>
          <a:lstStyle/>
          <a:p>
            <a:pPr indent="0" marL="0">
              <a:buNone/>
            </a:pPr>
            <a:r>
              <a:rPr lang="en-US" sz="2400" b="1" dirty="0">
                <a:solidFill>
                  <a:srgbClr val="0D9488"/>
                </a:solidFill>
                <a:latin typeface="Georgia" pitchFamily="34" charset="0"/>
                <a:ea typeface="Georgia" pitchFamily="34" charset="-122"/>
                <a:cs typeface="Georgia" pitchFamily="34" charset="-120"/>
              </a:rPr>
              <a:t>03</a:t>
            </a:r>
            <a:endParaRPr lang="en-US" sz="2400" dirty="0"/>
          </a:p>
        </p:txBody>
      </p:sp>
      <p:sp>
        <p:nvSpPr>
          <p:cNvPr id="17" name="Text 15"/>
          <p:cNvSpPr/>
          <p:nvPr/>
        </p:nvSpPr>
        <p:spPr>
          <a:xfrm>
            <a:off x="6400800" y="2011680"/>
            <a:ext cx="2011680" cy="365760"/>
          </a:xfrm>
          <a:prstGeom prst="rect">
            <a:avLst/>
          </a:prstGeom>
          <a:noFill/>
          <a:ln/>
        </p:spPr>
        <p:txBody>
          <a:bodyPr wrap="square" lIns="0" tIns="0" rIns="0" bIns="0" rtlCol="0" anchor="ctr"/>
          <a:lstStyle/>
          <a:p>
            <a:pPr indent="0" marL="0">
              <a:buNone/>
            </a:pPr>
            <a:r>
              <a:rPr lang="en-US" sz="1600" b="1" dirty="0">
                <a:solidFill>
                  <a:srgbClr val="1E293B"/>
                </a:solidFill>
                <a:latin typeface="Georgia" pitchFamily="34" charset="0"/>
                <a:ea typeface="Georgia" pitchFamily="34" charset="-122"/>
                <a:cs typeface="Georgia" pitchFamily="34" charset="-120"/>
              </a:rPr>
              <a:t>Lõi Dữ Liệu 4-bit</a:t>
            </a:r>
            <a:endParaRPr lang="en-US" sz="1600" dirty="0"/>
          </a:p>
        </p:txBody>
      </p:sp>
      <p:sp>
        <p:nvSpPr>
          <p:cNvPr id="18" name="Text 16"/>
          <p:cNvSpPr/>
          <p:nvPr/>
        </p:nvSpPr>
        <p:spPr>
          <a:xfrm>
            <a:off x="6400800" y="2468880"/>
            <a:ext cx="2011680" cy="1828800"/>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Các thanh ghi đa năng R0-R3 có độ rộng 4-bit.</a:t>
            </a:r>
            <a:endParaRPr lang="en-US" sz="1200" dirty="0"/>
          </a:p>
          <a:p>
            <a:pPr indent="0" marL="0">
              <a:buNone/>
            </a:pPr>
            <a:endParaRPr lang="en-US" sz="1200" dirty="0"/>
          </a:p>
          <a:p>
            <a:pPr indent="0" marL="0">
              <a:buNone/>
            </a:pPr>
            <a:r>
              <a:rPr lang="en-US" sz="1200" dirty="0">
                <a:solidFill>
                  <a:srgbClr val="475569"/>
                </a:solidFill>
                <a:latin typeface="Calibri" pitchFamily="34" charset="0"/>
                <a:ea typeface="Calibri" pitchFamily="34" charset="-122"/>
                <a:cs typeface="Calibri" pitchFamily="34" charset="-120"/>
              </a:rPr>
              <a:t>ALU tính toán toán số học/logic trên dữ liệu 4-bit.</a:t>
            </a:r>
            <a:endParaRPr lang="en-US" sz="1200" dirty="0"/>
          </a:p>
          <a:p>
            <a:pPr indent="0" marL="0">
              <a:buNone/>
            </a:pPr>
            <a:endParaRPr lang="en-US" sz="1200" dirty="0"/>
          </a:p>
          <a:p>
            <a:pPr indent="0" marL="0">
              <a:buNone/>
            </a:pPr>
            <a:r>
              <a:rPr lang="en-US" sz="1200" dirty="0">
                <a:solidFill>
                  <a:srgbClr val="475569"/>
                </a:solidFill>
                <a:latin typeface="Calibri" pitchFamily="34" charset="0"/>
                <a:ea typeface="Calibri" pitchFamily="34" charset="-122"/>
                <a:cs typeface="Calibri" pitchFamily="34" charset="-120"/>
              </a:rPr>
              <a:t>Tập lệnh tối giản với độ rộng từ lệnh cố định 8-bit (Opcode 4-bit + Operand 4-bit).</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31520" y="365760"/>
            <a:ext cx="7315200" cy="228600"/>
          </a:xfrm>
          <a:prstGeom prst="rect">
            <a:avLst/>
          </a:prstGeom>
          <a:noFill/>
          <a:ln/>
        </p:spPr>
        <p:txBody>
          <a:bodyPr wrap="square" lIns="0" tIns="0" rIns="0" bIns="0" rtlCol="0" anchor="ctr"/>
          <a:lstStyle/>
          <a:p>
            <a:pPr indent="0" marL="0">
              <a:buNone/>
            </a:pPr>
            <a:r>
              <a:rPr lang="en-US" sz="1000" b="1" spc="300" kern="0" dirty="0">
                <a:solidFill>
                  <a:srgbClr val="0D9488"/>
                </a:solidFill>
                <a:latin typeface="Calibri" pitchFamily="34" charset="0"/>
                <a:ea typeface="Calibri" pitchFamily="34" charset="-122"/>
                <a:cs typeface="Calibri" pitchFamily="34" charset="-120"/>
              </a:rPr>
              <a:t>KIẾN TRÚC TẬP LỆNH</a:t>
            </a:r>
            <a:endParaRPr lang="en-US" sz="1000" dirty="0"/>
          </a:p>
        </p:txBody>
      </p:sp>
      <p:sp>
        <p:nvSpPr>
          <p:cNvPr id="3" name="Text 1"/>
          <p:cNvSpPr/>
          <p:nvPr/>
        </p:nvSpPr>
        <p:spPr>
          <a:xfrm>
            <a:off x="731520" y="594360"/>
            <a:ext cx="7315200" cy="457200"/>
          </a:xfrm>
          <a:prstGeom prst="rect">
            <a:avLst/>
          </a:prstGeom>
          <a:noFill/>
          <a:ln/>
        </p:spPr>
        <p:txBody>
          <a:bodyPr wrap="square" lIns="0" tIns="0" rIns="0" bIns="0" rtlCol="0" anchor="ctr"/>
          <a:lstStyle/>
          <a:p>
            <a:pPr indent="0" marL="0">
              <a:buNone/>
            </a:pPr>
            <a:r>
              <a:rPr lang="en-US" sz="2600" b="1" dirty="0">
                <a:solidFill>
                  <a:srgbClr val="1E293B"/>
                </a:solidFill>
                <a:latin typeface="Georgia" pitchFamily="34" charset="0"/>
                <a:ea typeface="Georgia" pitchFamily="34" charset="-122"/>
                <a:cs typeface="Georgia" pitchFamily="34" charset="-120"/>
              </a:rPr>
              <a:t>Định Dạng Chỉ Lệnh &amp; Tập Lệnh Tối Giản</a:t>
            </a:r>
            <a:endParaRPr lang="en-US" sz="2600" dirty="0"/>
          </a:p>
        </p:txBody>
      </p:sp>
      <p:sp>
        <p:nvSpPr>
          <p:cNvPr id="4" name="Shape 2"/>
          <p:cNvSpPr/>
          <p:nvPr/>
        </p:nvSpPr>
        <p:spPr>
          <a:xfrm>
            <a:off x="731520" y="1280160"/>
            <a:ext cx="2926080" cy="3291840"/>
          </a:xfrm>
          <a:prstGeom prst="rect">
            <a:avLst/>
          </a:prstGeom>
          <a:solidFill>
            <a:srgbClr val="1E293B"/>
          </a:solidFill>
          <a:ln/>
          <a:effectLst>
            <a:outerShdw sx="100000" sy="100000" kx="0" ky="0" algn="bl" rotWithShape="0" blurRad="101600" dist="25400" dir="8100000">
              <a:srgbClr val="0F172A">
                <a:alpha val="8000"/>
              </a:srgbClr>
            </a:outerShdw>
          </a:effectLst>
        </p:spPr>
      </p:sp>
      <p:sp>
        <p:nvSpPr>
          <p:cNvPr id="5" name="Text 3"/>
          <p:cNvSpPr/>
          <p:nvPr/>
        </p:nvSpPr>
        <p:spPr>
          <a:xfrm>
            <a:off x="914400" y="1554480"/>
            <a:ext cx="2560320" cy="274320"/>
          </a:xfrm>
          <a:prstGeom prst="rect">
            <a:avLst/>
          </a:prstGeom>
          <a:noFill/>
          <a:ln/>
        </p:spPr>
        <p:txBody>
          <a:bodyPr wrap="square" lIns="0" tIns="0" rIns="0" bIns="0" rtlCol="0" anchor="ctr"/>
          <a:lstStyle/>
          <a:p>
            <a:pPr indent="0" marL="0">
              <a:buNone/>
            </a:pPr>
            <a:r>
              <a:rPr lang="en-US" sz="1100" b="1" spc="200" kern="0" dirty="0">
                <a:solidFill>
                  <a:srgbClr val="0D9488"/>
                </a:solidFill>
                <a:latin typeface="Calibri" pitchFamily="34" charset="0"/>
                <a:ea typeface="Calibri" pitchFamily="34" charset="-122"/>
                <a:cs typeface="Calibri" pitchFamily="34" charset="-120"/>
              </a:rPr>
              <a:t>ĐỊNH DẠNG TỪ LỆNH (8-BIT)</a:t>
            </a:r>
            <a:endParaRPr lang="en-US" sz="1100" dirty="0"/>
          </a:p>
        </p:txBody>
      </p:sp>
      <p:sp>
        <p:nvSpPr>
          <p:cNvPr id="6" name="Shape 4"/>
          <p:cNvSpPr/>
          <p:nvPr/>
        </p:nvSpPr>
        <p:spPr>
          <a:xfrm>
            <a:off x="1005840" y="2011680"/>
            <a:ext cx="1188720" cy="731520"/>
          </a:xfrm>
          <a:prstGeom prst="rect">
            <a:avLst/>
          </a:prstGeom>
          <a:solidFill>
            <a:srgbClr val="0D9488"/>
          </a:solidFill>
          <a:ln/>
        </p:spPr>
      </p:sp>
      <p:sp>
        <p:nvSpPr>
          <p:cNvPr id="7" name="Text 5"/>
          <p:cNvSpPr/>
          <p:nvPr/>
        </p:nvSpPr>
        <p:spPr>
          <a:xfrm>
            <a:off x="1005840" y="2103120"/>
            <a:ext cx="1188720"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OPCODE</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[7:4]</a:t>
            </a:r>
            <a:endParaRPr lang="en-US" sz="1200" dirty="0"/>
          </a:p>
        </p:txBody>
      </p:sp>
      <p:sp>
        <p:nvSpPr>
          <p:cNvPr id="8" name="Shape 6"/>
          <p:cNvSpPr/>
          <p:nvPr/>
        </p:nvSpPr>
        <p:spPr>
          <a:xfrm>
            <a:off x="2286000" y="2011680"/>
            <a:ext cx="1188720" cy="731520"/>
          </a:xfrm>
          <a:prstGeom prst="rect">
            <a:avLst/>
          </a:prstGeom>
          <a:solidFill>
            <a:srgbClr val="475569"/>
          </a:solidFill>
          <a:ln/>
        </p:spPr>
      </p:sp>
      <p:sp>
        <p:nvSpPr>
          <p:cNvPr id="9" name="Text 7"/>
          <p:cNvSpPr/>
          <p:nvPr/>
        </p:nvSpPr>
        <p:spPr>
          <a:xfrm>
            <a:off x="2286000" y="2103120"/>
            <a:ext cx="1188720"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OPERAND</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[3:0]</a:t>
            </a:r>
            <a:endParaRPr lang="en-US" sz="1200" dirty="0"/>
          </a:p>
        </p:txBody>
      </p:sp>
      <p:sp>
        <p:nvSpPr>
          <p:cNvPr id="10" name="Text 8"/>
          <p:cNvSpPr/>
          <p:nvPr/>
        </p:nvSpPr>
        <p:spPr>
          <a:xfrm>
            <a:off x="914400" y="3017520"/>
            <a:ext cx="2560320" cy="1280160"/>
          </a:xfrm>
          <a:prstGeom prst="rect">
            <a:avLst/>
          </a:prstGeom>
          <a:noFill/>
          <a:ln/>
        </p:spPr>
        <p:txBody>
          <a:bodyPr wrap="square" lIns="0" tIns="0" rIns="0" bIns="0" rtlCol="0" anchor="ctr"/>
          <a:lstStyle/>
          <a:p>
            <a:pPr indent="0" marL="0">
              <a:buNone/>
            </a:pPr>
            <a:r>
              <a:rPr lang="en-US" sz="1200" dirty="0">
                <a:solidFill>
                  <a:srgbClr val="94A3B8"/>
                </a:solidFill>
                <a:latin typeface="Calibri" pitchFamily="34" charset="0"/>
                <a:ea typeface="Calibri" pitchFamily="34" charset="-122"/>
                <a:cs typeface="Calibri" pitchFamily="34" charset="-120"/>
              </a:rPr>
              <a:t>Opcode (4-bit): Định nghĩa 9 phép toán xử lý cơ bản.</a:t>
            </a:r>
            <a:endParaRPr lang="en-US" sz="1200" dirty="0"/>
          </a:p>
          <a:p>
            <a:pPr indent="0" marL="0">
              <a:buNone/>
            </a:pPr>
            <a:endParaRPr lang="en-US" sz="1200" dirty="0"/>
          </a:p>
          <a:p>
            <a:pPr indent="0" marL="0">
              <a:buNone/>
            </a:pPr>
            <a:r>
              <a:rPr lang="en-US" sz="1200" dirty="0">
                <a:solidFill>
                  <a:srgbClr val="94A3B8"/>
                </a:solidFill>
                <a:latin typeface="Calibri" pitchFamily="34" charset="0"/>
                <a:ea typeface="Calibri" pitchFamily="34" charset="-122"/>
                <a:cs typeface="Calibri" pitchFamily="34" charset="-120"/>
              </a:rPr>
              <a:t>Operand (4-bit): Chứa địa chỉ bộ nhớ (RAM/ROM) hoặc chỉ số của tập thanh ghi nguồn/đích.</a:t>
            </a:r>
            <a:endParaRPr lang="en-US" sz="1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3931920" y="1280160"/>
          <a:ext cx="4480560" cy="3291840"/>
        </p:xfrm>
        <a:graphic>
          <a:graphicData uri="http://schemas.openxmlformats.org/drawingml/2006/table">
            <a:tbl>
              <a:tblPr/>
              <a:tblGrid>
                <a:gridCol w="1097280"/>
                <a:gridCol w="822960"/>
                <a:gridCol w="2560320"/>
              </a:tblGrid>
              <a:tr h="329184">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Lệnh (ASM)</a:t>
                      </a:r>
                      <a:endParaRPr lang="en-US" sz="10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E293B"/>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Opcode</a:t>
                      </a:r>
                      <a:endParaRPr lang="en-US" sz="10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E293B"/>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Chức năng thực thi</a:t>
                      </a:r>
                      <a:endParaRPr lang="en-US" sz="10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E293B"/>
                    </a:solidFill>
                  </a:tcPr>
                </a:tc>
              </a:tr>
              <a:tr h="329184">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LOAD addr</a:t>
                      </a:r>
                      <a:endParaRPr lang="en-US" sz="10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0001</a:t>
                      </a:r>
                      <a:endParaRPr lang="en-US" sz="10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Nạp dữ liệu từ RAM[addr] vào R0</a:t>
                      </a:r>
                      <a:endParaRPr lang="en-US" sz="10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329184">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STORE addr</a:t>
                      </a:r>
                      <a:endParaRPr lang="en-US" sz="10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0010</a:t>
                      </a:r>
                      <a:endParaRPr lang="en-US" sz="10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Lưu dữ liệu từ R0 vào RAM[addr]</a:t>
                      </a:r>
                      <a:endParaRPr lang="en-US" sz="10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329184">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ADD Rd, Rs</a:t>
                      </a:r>
                      <a:endParaRPr lang="en-US" sz="10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0011</a:t>
                      </a:r>
                      <a:endParaRPr lang="en-US" sz="10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Cộng thanh ghi: R[Rd] = R[Rd] + R[Rs]</a:t>
                      </a:r>
                      <a:endParaRPr lang="en-US" sz="10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329184">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SUB Rd, Rs</a:t>
                      </a:r>
                      <a:endParaRPr lang="en-US" sz="10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0100</a:t>
                      </a:r>
                      <a:endParaRPr lang="en-US" sz="10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Trừ thanh ghi: R[Rd] = R[Rd] - R[Rs]</a:t>
                      </a:r>
                      <a:endParaRPr lang="en-US" sz="10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329184">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MOV Rd, Rs</a:t>
                      </a:r>
                      <a:endParaRPr lang="en-US" sz="10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0101</a:t>
                      </a:r>
                      <a:endParaRPr lang="en-US" sz="10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Sao chép dữ liệu giữa các thanh ghi</a:t>
                      </a:r>
                      <a:endParaRPr lang="en-US" sz="10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329184">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JMP addr</a:t>
                      </a:r>
                      <a:endParaRPr lang="en-US" sz="10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0110</a:t>
                      </a:r>
                      <a:endParaRPr lang="en-US" sz="10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Nhảy không điều kiện tới địa chỉ ROM</a:t>
                      </a:r>
                      <a:endParaRPr lang="en-US" sz="10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329184">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JZ addr</a:t>
                      </a:r>
                      <a:endParaRPr lang="en-US" sz="10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0111</a:t>
                      </a:r>
                      <a:endParaRPr lang="en-US" sz="10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Nhảy nếu cờ Zero Z = 1</a:t>
                      </a:r>
                      <a:endParaRPr lang="en-US" sz="10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329184">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OUT Rs</a:t>
                      </a:r>
                      <a:endParaRPr lang="en-US" sz="10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1000</a:t>
                      </a:r>
                      <a:endParaRPr lang="en-US" sz="10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Xuất giá trị của Rs ra cổng ngoài</a:t>
                      </a:r>
                      <a:endParaRPr lang="en-US" sz="10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329184">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HALT</a:t>
                      </a:r>
                      <a:endParaRPr lang="en-US" sz="10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1111</a:t>
                      </a:r>
                      <a:endParaRPr lang="en-US" sz="10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Dừng chạy chương trình</a:t>
                      </a:r>
                      <a:endParaRPr lang="en-US" sz="10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31520" y="365760"/>
            <a:ext cx="7315200" cy="228600"/>
          </a:xfrm>
          <a:prstGeom prst="rect">
            <a:avLst/>
          </a:prstGeom>
          <a:noFill/>
          <a:ln/>
        </p:spPr>
        <p:txBody>
          <a:bodyPr wrap="square" lIns="0" tIns="0" rIns="0" bIns="0" rtlCol="0" anchor="ctr"/>
          <a:lstStyle/>
          <a:p>
            <a:pPr indent="0" marL="0">
              <a:buNone/>
            </a:pPr>
            <a:r>
              <a:rPr lang="en-US" sz="1000" b="1" spc="300" kern="0" dirty="0">
                <a:solidFill>
                  <a:srgbClr val="0D9488"/>
                </a:solidFill>
                <a:latin typeface="Calibri" pitchFamily="34" charset="0"/>
                <a:ea typeface="Calibri" pitchFamily="34" charset="-122"/>
                <a:cs typeface="Calibri" pitchFamily="34" charset="-120"/>
              </a:rPr>
              <a:t>SƠ ĐỒ KIẾN TRÚC</a:t>
            </a:r>
            <a:endParaRPr lang="en-US" sz="1000" dirty="0"/>
          </a:p>
        </p:txBody>
      </p:sp>
      <p:sp>
        <p:nvSpPr>
          <p:cNvPr id="3" name="Text 1"/>
          <p:cNvSpPr/>
          <p:nvPr/>
        </p:nvSpPr>
        <p:spPr>
          <a:xfrm>
            <a:off x="731520" y="594360"/>
            <a:ext cx="7315200" cy="457200"/>
          </a:xfrm>
          <a:prstGeom prst="rect">
            <a:avLst/>
          </a:prstGeom>
          <a:noFill/>
          <a:ln/>
        </p:spPr>
        <p:txBody>
          <a:bodyPr wrap="square" lIns="0" tIns="0" rIns="0" bIns="0" rtlCol="0" anchor="ctr"/>
          <a:lstStyle/>
          <a:p>
            <a:pPr indent="0" marL="0">
              <a:buNone/>
            </a:pPr>
            <a:r>
              <a:rPr lang="en-US" sz="2600" b="1" dirty="0">
                <a:solidFill>
                  <a:srgbClr val="1E293B"/>
                </a:solidFill>
                <a:latin typeface="Georgia" pitchFamily="34" charset="0"/>
                <a:ea typeface="Georgia" pitchFamily="34" charset="-122"/>
                <a:cs typeface="Georgia" pitchFamily="34" charset="-120"/>
              </a:rPr>
              <a:t>Đường Đi Dữ Liệu (Datapath) Tối Ưu</a:t>
            </a:r>
            <a:endParaRPr lang="en-US" sz="2600" dirty="0"/>
          </a:p>
        </p:txBody>
      </p:sp>
      <p:sp>
        <p:nvSpPr>
          <p:cNvPr id="4" name="Shape 2"/>
          <p:cNvSpPr/>
          <p:nvPr/>
        </p:nvSpPr>
        <p:spPr>
          <a:xfrm>
            <a:off x="731520" y="1645920"/>
            <a:ext cx="2194560" cy="914400"/>
          </a:xfrm>
          <a:prstGeom prst="rect">
            <a:avLst/>
          </a:prstGeom>
          <a:solidFill>
            <a:srgbClr val="FFFFFF"/>
          </a:solidFill>
          <a:ln w="12700">
            <a:solidFill>
              <a:srgbClr val="E2E8F0"/>
            </a:solidFill>
            <a:prstDash val="solid"/>
          </a:ln>
          <a:effectLst>
            <a:outerShdw sx="100000" sy="100000" kx="0" ky="0" algn="bl" rotWithShape="0" blurRad="101600" dist="25400" dir="8100000">
              <a:srgbClr val="0F172A">
                <a:alpha val="8000"/>
              </a:srgbClr>
            </a:outerShdw>
          </a:effectLst>
        </p:spPr>
      </p:sp>
      <p:sp>
        <p:nvSpPr>
          <p:cNvPr id="5" name="Shape 3"/>
          <p:cNvSpPr/>
          <p:nvPr/>
        </p:nvSpPr>
        <p:spPr>
          <a:xfrm>
            <a:off x="731520" y="1645920"/>
            <a:ext cx="73152" cy="914400"/>
          </a:xfrm>
          <a:prstGeom prst="rect">
            <a:avLst/>
          </a:prstGeom>
          <a:solidFill>
            <a:srgbClr val="0D9488"/>
          </a:solidFill>
          <a:ln/>
        </p:spPr>
      </p:sp>
      <p:sp>
        <p:nvSpPr>
          <p:cNvPr id="6" name="Shape 4"/>
          <p:cNvSpPr/>
          <p:nvPr/>
        </p:nvSpPr>
        <p:spPr>
          <a:xfrm>
            <a:off x="868680" y="1755648"/>
            <a:ext cx="822960" cy="201168"/>
          </a:xfrm>
          <a:prstGeom prst="rect">
            <a:avLst/>
          </a:prstGeom>
          <a:solidFill>
            <a:srgbClr val="CCFBF1"/>
          </a:solidFill>
          <a:ln w="12700">
            <a:solidFill>
              <a:srgbClr val="333333"/>
            </a:solidFill>
            <a:prstDash val="solid"/>
          </a:ln>
        </p:spPr>
      </p:sp>
      <p:sp>
        <p:nvSpPr>
          <p:cNvPr id="7" name="Text 5"/>
          <p:cNvSpPr/>
          <p:nvPr/>
        </p:nvSpPr>
        <p:spPr>
          <a:xfrm>
            <a:off x="868680" y="1755648"/>
            <a:ext cx="822960" cy="201168"/>
          </a:xfrm>
          <a:prstGeom prst="rect">
            <a:avLst/>
          </a:prstGeom>
          <a:noFill/>
          <a:ln/>
        </p:spPr>
        <p:txBody>
          <a:bodyPr wrap="square" lIns="0" tIns="0" rIns="0" bIns="0" rtlCol="0" anchor="ctr"/>
          <a:lstStyle/>
          <a:p>
            <a:pPr algn="ctr" indent="0" marL="0">
              <a:buNone/>
            </a:pPr>
            <a:r>
              <a:rPr lang="en-US" sz="800" b="1" dirty="0">
                <a:solidFill>
                  <a:srgbClr val="0D9488"/>
                </a:solidFill>
                <a:latin typeface="Calibri" pitchFamily="34" charset="0"/>
                <a:ea typeface="Calibri" pitchFamily="34" charset="-122"/>
                <a:cs typeface="Calibri" pitchFamily="34" charset="-120"/>
              </a:rPr>
              <a:t>FETCH</a:t>
            </a:r>
            <a:endParaRPr lang="en-US" sz="800" dirty="0"/>
          </a:p>
        </p:txBody>
      </p:sp>
      <p:sp>
        <p:nvSpPr>
          <p:cNvPr id="8" name="Text 6"/>
          <p:cNvSpPr/>
          <p:nvPr/>
        </p:nvSpPr>
        <p:spPr>
          <a:xfrm>
            <a:off x="868680" y="1993392"/>
            <a:ext cx="1965960" cy="228600"/>
          </a:xfrm>
          <a:prstGeom prst="rect">
            <a:avLst/>
          </a:prstGeom>
          <a:noFill/>
          <a:ln/>
        </p:spPr>
        <p:txBody>
          <a:bodyPr wrap="square" lIns="0" tIns="0" rIns="0" bIns="0" rtlCol="0" anchor="ctr"/>
          <a:lstStyle/>
          <a:p>
            <a:pPr indent="0" marL="0">
              <a:buNone/>
            </a:pPr>
            <a:r>
              <a:rPr lang="en-US" sz="1200" b="1" dirty="0">
                <a:solidFill>
                  <a:srgbClr val="1E293B"/>
                </a:solidFill>
                <a:latin typeface="Georgia" pitchFamily="34" charset="0"/>
                <a:ea typeface="Georgia" pitchFamily="34" charset="-122"/>
                <a:cs typeface="Georgia" pitchFamily="34" charset="-120"/>
              </a:rPr>
              <a:t>Program Counter</a:t>
            </a:r>
            <a:endParaRPr lang="en-US" sz="1200" dirty="0"/>
          </a:p>
        </p:txBody>
      </p:sp>
      <p:sp>
        <p:nvSpPr>
          <p:cNvPr id="9" name="Text 7"/>
          <p:cNvSpPr/>
          <p:nvPr/>
        </p:nvSpPr>
        <p:spPr>
          <a:xfrm>
            <a:off x="868680" y="2212848"/>
            <a:ext cx="1965960" cy="320040"/>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Tăng địa chỉ PC qua từng cạnh clock</a:t>
            </a:r>
            <a:endParaRPr lang="en-US" sz="900" dirty="0"/>
          </a:p>
        </p:txBody>
      </p:sp>
      <p:sp>
        <p:nvSpPr>
          <p:cNvPr id="10" name="Shape 8"/>
          <p:cNvSpPr/>
          <p:nvPr/>
        </p:nvSpPr>
        <p:spPr>
          <a:xfrm>
            <a:off x="3291840" y="1645920"/>
            <a:ext cx="2194560" cy="914400"/>
          </a:xfrm>
          <a:prstGeom prst="rect">
            <a:avLst/>
          </a:prstGeom>
          <a:solidFill>
            <a:srgbClr val="FFFFFF"/>
          </a:solidFill>
          <a:ln w="12700">
            <a:solidFill>
              <a:srgbClr val="E2E8F0"/>
            </a:solidFill>
            <a:prstDash val="solid"/>
          </a:ln>
          <a:effectLst>
            <a:outerShdw sx="100000" sy="100000" kx="0" ky="0" algn="bl" rotWithShape="0" blurRad="101600" dist="25400" dir="8100000">
              <a:srgbClr val="0F172A">
                <a:alpha val="8000"/>
              </a:srgbClr>
            </a:outerShdw>
          </a:effectLst>
        </p:spPr>
      </p:sp>
      <p:sp>
        <p:nvSpPr>
          <p:cNvPr id="11" name="Shape 9"/>
          <p:cNvSpPr/>
          <p:nvPr/>
        </p:nvSpPr>
        <p:spPr>
          <a:xfrm>
            <a:off x="3291840" y="1645920"/>
            <a:ext cx="73152" cy="914400"/>
          </a:xfrm>
          <a:prstGeom prst="rect">
            <a:avLst/>
          </a:prstGeom>
          <a:solidFill>
            <a:srgbClr val="0D9488"/>
          </a:solidFill>
          <a:ln/>
        </p:spPr>
      </p:sp>
      <p:sp>
        <p:nvSpPr>
          <p:cNvPr id="12" name="Shape 10"/>
          <p:cNvSpPr/>
          <p:nvPr/>
        </p:nvSpPr>
        <p:spPr>
          <a:xfrm>
            <a:off x="3429000" y="1755648"/>
            <a:ext cx="822960" cy="201168"/>
          </a:xfrm>
          <a:prstGeom prst="rect">
            <a:avLst/>
          </a:prstGeom>
          <a:solidFill>
            <a:srgbClr val="CCFBF1"/>
          </a:solidFill>
          <a:ln w="12700">
            <a:solidFill>
              <a:srgbClr val="333333"/>
            </a:solidFill>
            <a:prstDash val="solid"/>
          </a:ln>
        </p:spPr>
      </p:sp>
      <p:sp>
        <p:nvSpPr>
          <p:cNvPr id="13" name="Text 11"/>
          <p:cNvSpPr/>
          <p:nvPr/>
        </p:nvSpPr>
        <p:spPr>
          <a:xfrm>
            <a:off x="3429000" y="1755648"/>
            <a:ext cx="822960" cy="201168"/>
          </a:xfrm>
          <a:prstGeom prst="rect">
            <a:avLst/>
          </a:prstGeom>
          <a:noFill/>
          <a:ln/>
        </p:spPr>
        <p:txBody>
          <a:bodyPr wrap="square" lIns="0" tIns="0" rIns="0" bIns="0" rtlCol="0" anchor="ctr"/>
          <a:lstStyle/>
          <a:p>
            <a:pPr algn="ctr" indent="0" marL="0">
              <a:buNone/>
            </a:pPr>
            <a:r>
              <a:rPr lang="en-US" sz="800" b="1" dirty="0">
                <a:solidFill>
                  <a:srgbClr val="0D9488"/>
                </a:solidFill>
                <a:latin typeface="Calibri" pitchFamily="34" charset="0"/>
                <a:ea typeface="Calibri" pitchFamily="34" charset="-122"/>
                <a:cs typeface="Calibri" pitchFamily="34" charset="-120"/>
              </a:rPr>
              <a:t>DECODE</a:t>
            </a:r>
            <a:endParaRPr lang="en-US" sz="800" dirty="0"/>
          </a:p>
        </p:txBody>
      </p:sp>
      <p:sp>
        <p:nvSpPr>
          <p:cNvPr id="14" name="Text 12"/>
          <p:cNvSpPr/>
          <p:nvPr/>
        </p:nvSpPr>
        <p:spPr>
          <a:xfrm>
            <a:off x="3429000" y="1993392"/>
            <a:ext cx="1965960" cy="228600"/>
          </a:xfrm>
          <a:prstGeom prst="rect">
            <a:avLst/>
          </a:prstGeom>
          <a:noFill/>
          <a:ln/>
        </p:spPr>
        <p:txBody>
          <a:bodyPr wrap="square" lIns="0" tIns="0" rIns="0" bIns="0" rtlCol="0" anchor="ctr"/>
          <a:lstStyle/>
          <a:p>
            <a:pPr indent="0" marL="0">
              <a:buNone/>
            </a:pPr>
            <a:r>
              <a:rPr lang="en-US" sz="1200" b="1" dirty="0">
                <a:solidFill>
                  <a:srgbClr val="1E293B"/>
                </a:solidFill>
                <a:latin typeface="Georgia" pitchFamily="34" charset="0"/>
                <a:ea typeface="Georgia" pitchFamily="34" charset="-122"/>
                <a:cs typeface="Georgia" pitchFamily="34" charset="-120"/>
              </a:rPr>
              <a:t>Instruction Memory</a:t>
            </a:r>
            <a:endParaRPr lang="en-US" sz="1200" dirty="0"/>
          </a:p>
        </p:txBody>
      </p:sp>
      <p:sp>
        <p:nvSpPr>
          <p:cNvPr id="15" name="Text 13"/>
          <p:cNvSpPr/>
          <p:nvPr/>
        </p:nvSpPr>
        <p:spPr>
          <a:xfrm>
            <a:off x="3429000" y="2212848"/>
            <a:ext cx="1965960" cy="320040"/>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ROM nạp mã máy 8-bit tương ứng</a:t>
            </a:r>
            <a:endParaRPr lang="en-US" sz="900" dirty="0"/>
          </a:p>
        </p:txBody>
      </p:sp>
      <p:sp>
        <p:nvSpPr>
          <p:cNvPr id="16" name="Shape 14"/>
          <p:cNvSpPr/>
          <p:nvPr/>
        </p:nvSpPr>
        <p:spPr>
          <a:xfrm>
            <a:off x="5852160" y="1645920"/>
            <a:ext cx="2560320" cy="914400"/>
          </a:xfrm>
          <a:prstGeom prst="rect">
            <a:avLst/>
          </a:prstGeom>
          <a:solidFill>
            <a:srgbClr val="FFFFFF"/>
          </a:solidFill>
          <a:ln w="12700">
            <a:solidFill>
              <a:srgbClr val="E2E8F0"/>
            </a:solidFill>
            <a:prstDash val="solid"/>
          </a:ln>
          <a:effectLst>
            <a:outerShdw sx="100000" sy="100000" kx="0" ky="0" algn="bl" rotWithShape="0" blurRad="101600" dist="25400" dir="8100000">
              <a:srgbClr val="0F172A">
                <a:alpha val="8000"/>
              </a:srgbClr>
            </a:outerShdw>
          </a:effectLst>
        </p:spPr>
      </p:sp>
      <p:sp>
        <p:nvSpPr>
          <p:cNvPr id="17" name="Shape 15"/>
          <p:cNvSpPr/>
          <p:nvPr/>
        </p:nvSpPr>
        <p:spPr>
          <a:xfrm>
            <a:off x="5852160" y="1645920"/>
            <a:ext cx="73152" cy="914400"/>
          </a:xfrm>
          <a:prstGeom prst="rect">
            <a:avLst/>
          </a:prstGeom>
          <a:solidFill>
            <a:srgbClr val="0D9488"/>
          </a:solidFill>
          <a:ln/>
        </p:spPr>
      </p:sp>
      <p:sp>
        <p:nvSpPr>
          <p:cNvPr id="18" name="Shape 16"/>
          <p:cNvSpPr/>
          <p:nvPr/>
        </p:nvSpPr>
        <p:spPr>
          <a:xfrm>
            <a:off x="5989320" y="1755648"/>
            <a:ext cx="822960" cy="201168"/>
          </a:xfrm>
          <a:prstGeom prst="rect">
            <a:avLst/>
          </a:prstGeom>
          <a:solidFill>
            <a:srgbClr val="CCFBF1"/>
          </a:solidFill>
          <a:ln w="12700">
            <a:solidFill>
              <a:srgbClr val="333333"/>
            </a:solidFill>
            <a:prstDash val="solid"/>
          </a:ln>
        </p:spPr>
      </p:sp>
      <p:sp>
        <p:nvSpPr>
          <p:cNvPr id="19" name="Text 17"/>
          <p:cNvSpPr/>
          <p:nvPr/>
        </p:nvSpPr>
        <p:spPr>
          <a:xfrm>
            <a:off x="5989320" y="1755648"/>
            <a:ext cx="822960" cy="201168"/>
          </a:xfrm>
          <a:prstGeom prst="rect">
            <a:avLst/>
          </a:prstGeom>
          <a:noFill/>
          <a:ln/>
        </p:spPr>
        <p:txBody>
          <a:bodyPr wrap="square" lIns="0" tIns="0" rIns="0" bIns="0" rtlCol="0" anchor="ctr"/>
          <a:lstStyle/>
          <a:p>
            <a:pPr algn="ctr" indent="0" marL="0">
              <a:buNone/>
            </a:pPr>
            <a:r>
              <a:rPr lang="en-US" sz="800" b="1" dirty="0">
                <a:solidFill>
                  <a:srgbClr val="0D9488"/>
                </a:solidFill>
                <a:latin typeface="Calibri" pitchFamily="34" charset="0"/>
                <a:ea typeface="Calibri" pitchFamily="34" charset="-122"/>
                <a:cs typeface="Calibri" pitchFamily="34" charset="-120"/>
              </a:rPr>
              <a:t>REG READ</a:t>
            </a:r>
            <a:endParaRPr lang="en-US" sz="800" dirty="0"/>
          </a:p>
        </p:txBody>
      </p:sp>
      <p:sp>
        <p:nvSpPr>
          <p:cNvPr id="20" name="Text 18"/>
          <p:cNvSpPr/>
          <p:nvPr/>
        </p:nvSpPr>
        <p:spPr>
          <a:xfrm>
            <a:off x="5989320" y="1993392"/>
            <a:ext cx="2331720" cy="228600"/>
          </a:xfrm>
          <a:prstGeom prst="rect">
            <a:avLst/>
          </a:prstGeom>
          <a:noFill/>
          <a:ln/>
        </p:spPr>
        <p:txBody>
          <a:bodyPr wrap="square" lIns="0" tIns="0" rIns="0" bIns="0" rtlCol="0" anchor="ctr"/>
          <a:lstStyle/>
          <a:p>
            <a:pPr indent="0" marL="0">
              <a:buNone/>
            </a:pPr>
            <a:r>
              <a:rPr lang="en-US" sz="1200" b="1" dirty="0">
                <a:solidFill>
                  <a:srgbClr val="1E293B"/>
                </a:solidFill>
                <a:latin typeface="Georgia" pitchFamily="34" charset="0"/>
                <a:ea typeface="Georgia" pitchFamily="34" charset="-122"/>
                <a:cs typeface="Georgia" pitchFamily="34" charset="-120"/>
              </a:rPr>
              <a:t>Register File</a:t>
            </a:r>
            <a:endParaRPr lang="en-US" sz="1200" dirty="0"/>
          </a:p>
        </p:txBody>
      </p:sp>
      <p:sp>
        <p:nvSpPr>
          <p:cNvPr id="21" name="Text 19"/>
          <p:cNvSpPr/>
          <p:nvPr/>
        </p:nvSpPr>
        <p:spPr>
          <a:xfrm>
            <a:off x="5989320" y="2212848"/>
            <a:ext cx="2331720" cy="320040"/>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Lấy dữ liệu từ R0-R3 cho toán hạng</a:t>
            </a:r>
            <a:endParaRPr lang="en-US" sz="900" dirty="0"/>
          </a:p>
        </p:txBody>
      </p:sp>
      <p:sp>
        <p:nvSpPr>
          <p:cNvPr id="22" name="Shape 20"/>
          <p:cNvSpPr/>
          <p:nvPr/>
        </p:nvSpPr>
        <p:spPr>
          <a:xfrm>
            <a:off x="5852160" y="3291840"/>
            <a:ext cx="2560320" cy="914400"/>
          </a:xfrm>
          <a:prstGeom prst="rect">
            <a:avLst/>
          </a:prstGeom>
          <a:solidFill>
            <a:srgbClr val="FFFFFF"/>
          </a:solidFill>
          <a:ln w="12700">
            <a:solidFill>
              <a:srgbClr val="E2E8F0"/>
            </a:solidFill>
            <a:prstDash val="solid"/>
          </a:ln>
          <a:effectLst>
            <a:outerShdw sx="100000" sy="100000" kx="0" ky="0" algn="bl" rotWithShape="0" blurRad="101600" dist="25400" dir="8100000">
              <a:srgbClr val="0F172A">
                <a:alpha val="8000"/>
              </a:srgbClr>
            </a:outerShdw>
          </a:effectLst>
        </p:spPr>
      </p:sp>
      <p:sp>
        <p:nvSpPr>
          <p:cNvPr id="23" name="Shape 21"/>
          <p:cNvSpPr/>
          <p:nvPr/>
        </p:nvSpPr>
        <p:spPr>
          <a:xfrm>
            <a:off x="5852160" y="3291840"/>
            <a:ext cx="73152" cy="914400"/>
          </a:xfrm>
          <a:prstGeom prst="rect">
            <a:avLst/>
          </a:prstGeom>
          <a:solidFill>
            <a:srgbClr val="0D9488"/>
          </a:solidFill>
          <a:ln/>
        </p:spPr>
      </p:sp>
      <p:sp>
        <p:nvSpPr>
          <p:cNvPr id="24" name="Shape 22"/>
          <p:cNvSpPr/>
          <p:nvPr/>
        </p:nvSpPr>
        <p:spPr>
          <a:xfrm>
            <a:off x="5989320" y="3401568"/>
            <a:ext cx="822960" cy="201168"/>
          </a:xfrm>
          <a:prstGeom prst="rect">
            <a:avLst/>
          </a:prstGeom>
          <a:solidFill>
            <a:srgbClr val="CCFBF1"/>
          </a:solidFill>
          <a:ln w="12700">
            <a:solidFill>
              <a:srgbClr val="333333"/>
            </a:solidFill>
            <a:prstDash val="solid"/>
          </a:ln>
        </p:spPr>
      </p:sp>
      <p:sp>
        <p:nvSpPr>
          <p:cNvPr id="25" name="Text 23"/>
          <p:cNvSpPr/>
          <p:nvPr/>
        </p:nvSpPr>
        <p:spPr>
          <a:xfrm>
            <a:off x="5989320" y="3401568"/>
            <a:ext cx="822960" cy="201168"/>
          </a:xfrm>
          <a:prstGeom prst="rect">
            <a:avLst/>
          </a:prstGeom>
          <a:noFill/>
          <a:ln/>
        </p:spPr>
        <p:txBody>
          <a:bodyPr wrap="square" lIns="0" tIns="0" rIns="0" bIns="0" rtlCol="0" anchor="ctr"/>
          <a:lstStyle/>
          <a:p>
            <a:pPr algn="ctr" indent="0" marL="0">
              <a:buNone/>
            </a:pPr>
            <a:r>
              <a:rPr lang="en-US" sz="800" b="1" dirty="0">
                <a:solidFill>
                  <a:srgbClr val="0D9488"/>
                </a:solidFill>
                <a:latin typeface="Calibri" pitchFamily="34" charset="0"/>
                <a:ea typeface="Calibri" pitchFamily="34" charset="-122"/>
                <a:cs typeface="Calibri" pitchFamily="34" charset="-120"/>
              </a:rPr>
              <a:t>EXECUTE</a:t>
            </a:r>
            <a:endParaRPr lang="en-US" sz="800" dirty="0"/>
          </a:p>
        </p:txBody>
      </p:sp>
      <p:sp>
        <p:nvSpPr>
          <p:cNvPr id="26" name="Text 24"/>
          <p:cNvSpPr/>
          <p:nvPr/>
        </p:nvSpPr>
        <p:spPr>
          <a:xfrm>
            <a:off x="5989320" y="3639312"/>
            <a:ext cx="2331720" cy="228600"/>
          </a:xfrm>
          <a:prstGeom prst="rect">
            <a:avLst/>
          </a:prstGeom>
          <a:noFill/>
          <a:ln/>
        </p:spPr>
        <p:txBody>
          <a:bodyPr wrap="square" lIns="0" tIns="0" rIns="0" bIns="0" rtlCol="0" anchor="ctr"/>
          <a:lstStyle/>
          <a:p>
            <a:pPr indent="0" marL="0">
              <a:buNone/>
            </a:pPr>
            <a:r>
              <a:rPr lang="en-US" sz="1200" b="1" dirty="0">
                <a:solidFill>
                  <a:srgbClr val="1E293B"/>
                </a:solidFill>
                <a:latin typeface="Georgia" pitchFamily="34" charset="0"/>
                <a:ea typeface="Georgia" pitchFamily="34" charset="-122"/>
                <a:cs typeface="Georgia" pitchFamily="34" charset="-120"/>
              </a:rPr>
              <a:t>ALU 4-bit</a:t>
            </a:r>
            <a:endParaRPr lang="en-US" sz="1200" dirty="0"/>
          </a:p>
        </p:txBody>
      </p:sp>
      <p:sp>
        <p:nvSpPr>
          <p:cNvPr id="27" name="Text 25"/>
          <p:cNvSpPr/>
          <p:nvPr/>
        </p:nvSpPr>
        <p:spPr>
          <a:xfrm>
            <a:off x="5989320" y="3858768"/>
            <a:ext cx="2331720" cy="320040"/>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Thực hiện ADD/SUB/Pass qua opcode</a:t>
            </a:r>
            <a:endParaRPr lang="en-US" sz="900" dirty="0"/>
          </a:p>
        </p:txBody>
      </p:sp>
      <p:sp>
        <p:nvSpPr>
          <p:cNvPr id="28" name="Shape 26"/>
          <p:cNvSpPr/>
          <p:nvPr/>
        </p:nvSpPr>
        <p:spPr>
          <a:xfrm>
            <a:off x="3291840" y="3291840"/>
            <a:ext cx="2194560" cy="914400"/>
          </a:xfrm>
          <a:prstGeom prst="rect">
            <a:avLst/>
          </a:prstGeom>
          <a:solidFill>
            <a:srgbClr val="FFFFFF"/>
          </a:solidFill>
          <a:ln w="12700">
            <a:solidFill>
              <a:srgbClr val="E2E8F0"/>
            </a:solidFill>
            <a:prstDash val="solid"/>
          </a:ln>
          <a:effectLst>
            <a:outerShdw sx="100000" sy="100000" kx="0" ky="0" algn="bl" rotWithShape="0" blurRad="101600" dist="25400" dir="8100000">
              <a:srgbClr val="0F172A">
                <a:alpha val="8000"/>
              </a:srgbClr>
            </a:outerShdw>
          </a:effectLst>
        </p:spPr>
      </p:sp>
      <p:sp>
        <p:nvSpPr>
          <p:cNvPr id="29" name="Shape 27"/>
          <p:cNvSpPr/>
          <p:nvPr/>
        </p:nvSpPr>
        <p:spPr>
          <a:xfrm>
            <a:off x="3291840" y="3291840"/>
            <a:ext cx="73152" cy="914400"/>
          </a:xfrm>
          <a:prstGeom prst="rect">
            <a:avLst/>
          </a:prstGeom>
          <a:solidFill>
            <a:srgbClr val="0D9488"/>
          </a:solidFill>
          <a:ln/>
        </p:spPr>
      </p:sp>
      <p:sp>
        <p:nvSpPr>
          <p:cNvPr id="30" name="Shape 28"/>
          <p:cNvSpPr/>
          <p:nvPr/>
        </p:nvSpPr>
        <p:spPr>
          <a:xfrm>
            <a:off x="3429000" y="3401568"/>
            <a:ext cx="822960" cy="201168"/>
          </a:xfrm>
          <a:prstGeom prst="rect">
            <a:avLst/>
          </a:prstGeom>
          <a:solidFill>
            <a:srgbClr val="CCFBF1"/>
          </a:solidFill>
          <a:ln w="12700">
            <a:solidFill>
              <a:srgbClr val="333333"/>
            </a:solidFill>
            <a:prstDash val="solid"/>
          </a:ln>
        </p:spPr>
      </p:sp>
      <p:sp>
        <p:nvSpPr>
          <p:cNvPr id="31" name="Text 29"/>
          <p:cNvSpPr/>
          <p:nvPr/>
        </p:nvSpPr>
        <p:spPr>
          <a:xfrm>
            <a:off x="3429000" y="3401568"/>
            <a:ext cx="822960" cy="201168"/>
          </a:xfrm>
          <a:prstGeom prst="rect">
            <a:avLst/>
          </a:prstGeom>
          <a:noFill/>
          <a:ln/>
        </p:spPr>
        <p:txBody>
          <a:bodyPr wrap="square" lIns="0" tIns="0" rIns="0" bIns="0" rtlCol="0" anchor="ctr"/>
          <a:lstStyle/>
          <a:p>
            <a:pPr algn="ctr" indent="0" marL="0">
              <a:buNone/>
            </a:pPr>
            <a:r>
              <a:rPr lang="en-US" sz="800" b="1" dirty="0">
                <a:solidFill>
                  <a:srgbClr val="0D9488"/>
                </a:solidFill>
                <a:latin typeface="Calibri" pitchFamily="34" charset="0"/>
                <a:ea typeface="Calibri" pitchFamily="34" charset="-122"/>
                <a:cs typeface="Calibri" pitchFamily="34" charset="-120"/>
              </a:rPr>
              <a:t>WRITEBACK</a:t>
            </a:r>
            <a:endParaRPr lang="en-US" sz="800" dirty="0"/>
          </a:p>
        </p:txBody>
      </p:sp>
      <p:sp>
        <p:nvSpPr>
          <p:cNvPr id="32" name="Text 30"/>
          <p:cNvSpPr/>
          <p:nvPr/>
        </p:nvSpPr>
        <p:spPr>
          <a:xfrm>
            <a:off x="3429000" y="3639312"/>
            <a:ext cx="1965960" cy="228600"/>
          </a:xfrm>
          <a:prstGeom prst="rect">
            <a:avLst/>
          </a:prstGeom>
          <a:noFill/>
          <a:ln/>
        </p:spPr>
        <p:txBody>
          <a:bodyPr wrap="square" lIns="0" tIns="0" rIns="0" bIns="0" rtlCol="0" anchor="ctr"/>
          <a:lstStyle/>
          <a:p>
            <a:pPr indent="0" marL="0">
              <a:buNone/>
            </a:pPr>
            <a:r>
              <a:rPr lang="en-US" sz="1200" b="1" dirty="0">
                <a:solidFill>
                  <a:srgbClr val="1E293B"/>
                </a:solidFill>
                <a:latin typeface="Georgia" pitchFamily="34" charset="0"/>
                <a:ea typeface="Georgia" pitchFamily="34" charset="-122"/>
                <a:cs typeface="Georgia" pitchFamily="34" charset="-120"/>
              </a:rPr>
              <a:t>Data Memory (RAM)</a:t>
            </a:r>
            <a:endParaRPr lang="en-US" sz="1200" dirty="0"/>
          </a:p>
        </p:txBody>
      </p:sp>
      <p:sp>
        <p:nvSpPr>
          <p:cNvPr id="33" name="Text 31"/>
          <p:cNvSpPr/>
          <p:nvPr/>
        </p:nvSpPr>
        <p:spPr>
          <a:xfrm>
            <a:off x="3429000" y="3858768"/>
            <a:ext cx="1965960" cy="320040"/>
          </a:xfrm>
          <a:prstGeom prst="rect">
            <a:avLst/>
          </a:prstGeom>
          <a:noFill/>
          <a:ln/>
        </p:spPr>
        <p:txBody>
          <a:bodyPr wrap="square" lIns="0" tIns="0" rIns="0" bIns="0" rtlCol="0" anchor="ctr"/>
          <a:lstStyle/>
          <a:p>
            <a:pPr indent="0" marL="0">
              <a:buNone/>
            </a:pPr>
            <a:r>
              <a:rPr lang="en-US" sz="900" dirty="0">
                <a:solidFill>
                  <a:srgbClr val="475569"/>
                </a:solidFill>
                <a:latin typeface="Calibri" pitchFamily="34" charset="0"/>
                <a:ea typeface="Calibri" pitchFamily="34" charset="-122"/>
                <a:cs typeface="Calibri" pitchFamily="34" charset="-120"/>
              </a:rPr>
              <a:t>Đọc/ghi kết quả tính toán vào RAM</a:t>
            </a:r>
            <a:endParaRPr lang="en-US" sz="900" dirty="0"/>
          </a:p>
        </p:txBody>
      </p:sp>
      <p:sp>
        <p:nvSpPr>
          <p:cNvPr id="34" name="Shape 32"/>
          <p:cNvSpPr/>
          <p:nvPr/>
        </p:nvSpPr>
        <p:spPr>
          <a:xfrm>
            <a:off x="2926080" y="2103120"/>
            <a:ext cx="365760" cy="0"/>
          </a:xfrm>
          <a:prstGeom prst="line">
            <a:avLst/>
          </a:prstGeom>
          <a:noFill/>
          <a:ln w="19050">
            <a:solidFill>
              <a:srgbClr val="475569"/>
            </a:solidFill>
            <a:prstDash val="solid"/>
          </a:ln>
        </p:spPr>
      </p:sp>
      <p:sp>
        <p:nvSpPr>
          <p:cNvPr id="35" name="Shape 33"/>
          <p:cNvSpPr/>
          <p:nvPr/>
        </p:nvSpPr>
        <p:spPr>
          <a:xfrm>
            <a:off x="5486400" y="2103120"/>
            <a:ext cx="365760" cy="0"/>
          </a:xfrm>
          <a:prstGeom prst="line">
            <a:avLst/>
          </a:prstGeom>
          <a:noFill/>
          <a:ln w="19050">
            <a:solidFill>
              <a:srgbClr val="475569"/>
            </a:solidFill>
            <a:prstDash val="solid"/>
          </a:ln>
        </p:spPr>
      </p:sp>
      <p:sp>
        <p:nvSpPr>
          <p:cNvPr id="36" name="Shape 34"/>
          <p:cNvSpPr/>
          <p:nvPr/>
        </p:nvSpPr>
        <p:spPr>
          <a:xfrm>
            <a:off x="7132320" y="2560320"/>
            <a:ext cx="0" cy="731520"/>
          </a:xfrm>
          <a:prstGeom prst="line">
            <a:avLst/>
          </a:prstGeom>
          <a:noFill/>
          <a:ln w="19050">
            <a:solidFill>
              <a:srgbClr val="475569"/>
            </a:solidFill>
            <a:prstDash val="solid"/>
          </a:ln>
        </p:spPr>
      </p:sp>
      <p:sp>
        <p:nvSpPr>
          <p:cNvPr id="37" name="Shape 35"/>
          <p:cNvSpPr/>
          <p:nvPr/>
        </p:nvSpPr>
        <p:spPr>
          <a:xfrm>
            <a:off x="5852160" y="3749040"/>
            <a:ext cx="-365760" cy="0"/>
          </a:xfrm>
          <a:prstGeom prst="line">
            <a:avLst/>
          </a:prstGeom>
          <a:noFill/>
          <a:ln w="19050">
            <a:solidFill>
              <a:srgbClr val="475569"/>
            </a:solidFill>
            <a:prstDash val="solid"/>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31520" y="365760"/>
            <a:ext cx="7315200" cy="228600"/>
          </a:xfrm>
          <a:prstGeom prst="rect">
            <a:avLst/>
          </a:prstGeom>
          <a:noFill/>
          <a:ln/>
        </p:spPr>
        <p:txBody>
          <a:bodyPr wrap="square" lIns="0" tIns="0" rIns="0" bIns="0" rtlCol="0" anchor="ctr"/>
          <a:lstStyle/>
          <a:p>
            <a:pPr indent="0" marL="0">
              <a:buNone/>
            </a:pPr>
            <a:r>
              <a:rPr lang="en-US" sz="1000" b="1" spc="300" kern="0" dirty="0">
                <a:solidFill>
                  <a:srgbClr val="0D9488"/>
                </a:solidFill>
                <a:latin typeface="Calibri" pitchFamily="34" charset="0"/>
                <a:ea typeface="Calibri" pitchFamily="34" charset="-122"/>
                <a:cs typeface="Calibri" pitchFamily="34" charset="-120"/>
              </a:rPr>
              <a:t>KHỐI ĐIỀU KHIỂN</a:t>
            </a:r>
            <a:endParaRPr lang="en-US" sz="1000" dirty="0"/>
          </a:p>
        </p:txBody>
      </p:sp>
      <p:sp>
        <p:nvSpPr>
          <p:cNvPr id="3" name="Text 1"/>
          <p:cNvSpPr/>
          <p:nvPr/>
        </p:nvSpPr>
        <p:spPr>
          <a:xfrm>
            <a:off x="731520" y="594360"/>
            <a:ext cx="7315200" cy="457200"/>
          </a:xfrm>
          <a:prstGeom prst="rect">
            <a:avLst/>
          </a:prstGeom>
          <a:noFill/>
          <a:ln/>
        </p:spPr>
        <p:txBody>
          <a:bodyPr wrap="square" lIns="0" tIns="0" rIns="0" bIns="0" rtlCol="0" anchor="ctr"/>
          <a:lstStyle/>
          <a:p>
            <a:pPr indent="0" marL="0">
              <a:buNone/>
            </a:pPr>
            <a:r>
              <a:rPr lang="en-US" sz="2600" b="1" dirty="0">
                <a:solidFill>
                  <a:srgbClr val="1E293B"/>
                </a:solidFill>
                <a:latin typeface="Georgia" pitchFamily="34" charset="0"/>
                <a:ea typeface="Georgia" pitchFamily="34" charset="-122"/>
                <a:cs typeface="Georgia" pitchFamily="34" charset="-120"/>
              </a:rPr>
              <a:t>Logic Giải Mã Trực Quan (Control Unit)</a:t>
            </a:r>
            <a:endParaRPr lang="en-US" sz="2600" dirty="0"/>
          </a:p>
        </p:txBody>
      </p:sp>
      <p:sp>
        <p:nvSpPr>
          <p:cNvPr id="4" name="Shape 2"/>
          <p:cNvSpPr/>
          <p:nvPr/>
        </p:nvSpPr>
        <p:spPr>
          <a:xfrm>
            <a:off x="731520" y="1280160"/>
            <a:ext cx="2743200" cy="3291840"/>
          </a:xfrm>
          <a:prstGeom prst="rect">
            <a:avLst/>
          </a:prstGeom>
          <a:solidFill>
            <a:srgbClr val="FFFFFF"/>
          </a:solidFill>
          <a:ln w="12700">
            <a:solidFill>
              <a:srgbClr val="E2E8F0"/>
            </a:solidFill>
            <a:prstDash val="solid"/>
          </a:ln>
          <a:effectLst>
            <a:outerShdw sx="100000" sy="100000" kx="0" ky="0" algn="bl" rotWithShape="0" blurRad="101600" dist="25400" dir="8100000">
              <a:srgbClr val="0F172A">
                <a:alpha val="8000"/>
              </a:srgbClr>
            </a:outerShdw>
          </a:effectLst>
        </p:spPr>
      </p:sp>
      <p:sp>
        <p:nvSpPr>
          <p:cNvPr id="5" name="Text 3"/>
          <p:cNvSpPr/>
          <p:nvPr/>
        </p:nvSpPr>
        <p:spPr>
          <a:xfrm>
            <a:off x="914400" y="1554480"/>
            <a:ext cx="2377440" cy="274320"/>
          </a:xfrm>
          <a:prstGeom prst="rect">
            <a:avLst/>
          </a:prstGeom>
          <a:noFill/>
          <a:ln/>
        </p:spPr>
        <p:txBody>
          <a:bodyPr wrap="square" lIns="0" tIns="0" rIns="0" bIns="0" rtlCol="0" anchor="ctr"/>
          <a:lstStyle/>
          <a:p>
            <a:pPr indent="0" marL="0">
              <a:buNone/>
            </a:pPr>
            <a:r>
              <a:rPr lang="en-US" sz="1100" b="1" spc="200" kern="0" dirty="0">
                <a:solidFill>
                  <a:srgbClr val="0D9488"/>
                </a:solidFill>
                <a:latin typeface="Calibri" pitchFamily="34" charset="0"/>
                <a:ea typeface="Calibri" pitchFamily="34" charset="-122"/>
                <a:cs typeface="Calibri" pitchFamily="34" charset="-120"/>
              </a:rPr>
              <a:t>GIẢI MÃ LỆNH TỔ HỢP</a:t>
            </a:r>
            <a:endParaRPr lang="en-US" sz="1100" dirty="0"/>
          </a:p>
        </p:txBody>
      </p:sp>
      <p:sp>
        <p:nvSpPr>
          <p:cNvPr id="6" name="Text 4"/>
          <p:cNvSpPr/>
          <p:nvPr/>
        </p:nvSpPr>
        <p:spPr>
          <a:xfrm>
            <a:off x="914400" y="1920240"/>
            <a:ext cx="2377440" cy="237744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Control Unit đóng vai trò bộ não của CPU:
</a:t>
            </a:r>
            <a:pPr indent="0" marL="0">
              <a:buNone/>
            </a:pPr>
            <a:r>
              <a:rPr lang="en-US" sz="1100" b="1" dirty="0">
                <a:solidFill>
                  <a:srgbClr val="1E293B"/>
                </a:solidFill>
                <a:latin typeface="Calibri" pitchFamily="34" charset="0"/>
                <a:ea typeface="Calibri" pitchFamily="34" charset="-122"/>
                <a:cs typeface="Calibri" pitchFamily="34" charset="-120"/>
              </a:rPr>
              <a:t>• Mạch Tổ Hợp: </a:t>
            </a:r>
            <a:pPr indent="0" marL="0">
              <a:buNone/>
            </a:pPr>
            <a:r>
              <a:rPr lang="en-US" sz="1100" dirty="0">
                <a:solidFill>
                  <a:srgbClr val="475569"/>
                </a:solidFill>
                <a:latin typeface="Calibri" pitchFamily="34" charset="0"/>
                <a:ea typeface="Calibri" pitchFamily="34" charset="-122"/>
                <a:cs typeface="Calibri" pitchFamily="34" charset="-120"/>
              </a:rPr>
              <a:t>Nhận opcode 4-bit đầu vào và chuyển đổi tức thời sang các tín hiệu điều khiển mà không tốn chu kỳ clock.
</a:t>
            </a:r>
            <a:pPr indent="0" marL="0">
              <a:buNone/>
            </a:pPr>
            <a:r>
              <a:rPr lang="en-US" sz="1100" b="1" dirty="0">
                <a:solidFill>
                  <a:srgbClr val="1E293B"/>
                </a:solidFill>
                <a:latin typeface="Calibri" pitchFamily="34" charset="0"/>
                <a:ea typeface="Calibri" pitchFamily="34" charset="-122"/>
                <a:cs typeface="Calibri" pitchFamily="34" charset="-120"/>
              </a:rPr>
              <a:t>• Tránh Vòng Phản Hồi: </a:t>
            </a:r>
            <a:pPr indent="0" marL="0">
              <a:buNone/>
            </a:pPr>
            <a:r>
              <a:rPr lang="en-US" sz="1100" dirty="0">
                <a:solidFill>
                  <a:srgbClr val="475569"/>
                </a:solidFill>
                <a:latin typeface="Calibri" pitchFamily="34" charset="0"/>
                <a:ea typeface="Calibri" pitchFamily="34" charset="-122"/>
                <a:cs typeface="Calibri" pitchFamily="34" charset="-120"/>
              </a:rPr>
              <a:t>Cấu trúc độc lập của cờ Z và N tách rời khỏi tổ hợp khối điều khiển giúp mạch mô phỏng tránh được lỗi zero-delay loop.</a:t>
            </a:r>
            <a:endParaRPr lang="en-US" sz="11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3657600" y="1280160"/>
          <a:ext cx="4754880" cy="3291840"/>
        </p:xfrm>
        <a:graphic>
          <a:graphicData uri="http://schemas.openxmlformats.org/drawingml/2006/table">
            <a:tbl>
              <a:tblPr/>
              <a:tblGrid>
                <a:gridCol w="640080"/>
                <a:gridCol w="640080"/>
                <a:gridCol w="731520"/>
                <a:gridCol w="731520"/>
                <a:gridCol w="914400"/>
                <a:gridCol w="731520"/>
                <a:gridCol w="731520"/>
              </a:tblGrid>
              <a:tr h="329184">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Opcode</a:t>
                      </a:r>
                      <a:endParaRPr lang="en-US" sz="9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E293B"/>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Lệnh</a:t>
                      </a:r>
                      <a:endParaRPr lang="en-US" sz="9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E293B"/>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RegWrite</a:t>
                      </a:r>
                      <a:endParaRPr lang="en-US" sz="9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E293B"/>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ALUSrc</a:t>
                      </a:r>
                      <a:endParaRPr lang="en-US" sz="9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E293B"/>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ALUOp</a:t>
                      </a:r>
                      <a:endParaRPr lang="en-US" sz="9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E293B"/>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MemWrite</a:t>
                      </a:r>
                      <a:endParaRPr lang="en-US" sz="9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E293B"/>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MemtoReg</a:t>
                      </a:r>
                      <a:endParaRPr lang="en-US" sz="9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E293B"/>
                    </a:solidFill>
                  </a:tcPr>
                </a:tc>
              </a:tr>
              <a:tr h="329184">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0001</a:t>
                      </a:r>
                      <a:endParaRPr lang="en-US" sz="9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LOAD</a:t>
                      </a:r>
                      <a:endParaRPr lang="en-US" sz="9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1 (Mem)</a:t>
                      </a:r>
                      <a:endParaRPr lang="en-US" sz="9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000 (Pass)</a:t>
                      </a:r>
                      <a:endParaRPr lang="en-US" sz="9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1 (Mem)</a:t>
                      </a:r>
                      <a:endParaRPr lang="en-US" sz="9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329184">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0010</a:t>
                      </a:r>
                      <a:endParaRPr lang="en-US" sz="9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STORE</a:t>
                      </a:r>
                      <a:endParaRPr lang="en-US" sz="9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1 (Mem)</a:t>
                      </a:r>
                      <a:endParaRPr lang="en-US" sz="9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000 (Pass)</a:t>
                      </a:r>
                      <a:endParaRPr lang="en-US" sz="9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x</a:t>
                      </a:r>
                      <a:endParaRPr lang="en-US" sz="9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329184">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0011</a:t>
                      </a:r>
                      <a:endParaRPr lang="en-US" sz="9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ADD</a:t>
                      </a:r>
                      <a:endParaRPr lang="en-US" sz="9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0 (Reg)</a:t>
                      </a:r>
                      <a:endParaRPr lang="en-US" sz="9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001 (Add)</a:t>
                      </a:r>
                      <a:endParaRPr lang="en-US" sz="9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0 (ALU)</a:t>
                      </a:r>
                      <a:endParaRPr lang="en-US" sz="9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329184">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0100</a:t>
                      </a:r>
                      <a:endParaRPr lang="en-US" sz="9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SUB</a:t>
                      </a:r>
                      <a:endParaRPr lang="en-US" sz="9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0 (Reg)</a:t>
                      </a:r>
                      <a:endParaRPr lang="en-US" sz="9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010 (Sub)</a:t>
                      </a:r>
                      <a:endParaRPr lang="en-US" sz="9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0 (ALU)</a:t>
                      </a:r>
                      <a:endParaRPr lang="en-US" sz="9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329184">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0101</a:t>
                      </a:r>
                      <a:endParaRPr lang="en-US" sz="9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MOV</a:t>
                      </a:r>
                      <a:endParaRPr lang="en-US" sz="9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0 (Reg)</a:t>
                      </a:r>
                      <a:endParaRPr lang="en-US" sz="9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011 (Pass)</a:t>
                      </a:r>
                      <a:endParaRPr lang="en-US" sz="9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0 (ALU)</a:t>
                      </a:r>
                      <a:endParaRPr lang="en-US" sz="9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329184">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0110</a:t>
                      </a:r>
                      <a:endParaRPr lang="en-US" sz="9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JMP</a:t>
                      </a:r>
                      <a:endParaRPr lang="en-US" sz="9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x</a:t>
                      </a:r>
                      <a:endParaRPr lang="en-US" sz="9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xxx</a:t>
                      </a:r>
                      <a:endParaRPr lang="en-US" sz="9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x</a:t>
                      </a:r>
                      <a:endParaRPr lang="en-US" sz="9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329184">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0111</a:t>
                      </a:r>
                      <a:endParaRPr lang="en-US" sz="9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JZ</a:t>
                      </a:r>
                      <a:endParaRPr lang="en-US" sz="9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x</a:t>
                      </a:r>
                      <a:endParaRPr lang="en-US" sz="9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xxx</a:t>
                      </a:r>
                      <a:endParaRPr lang="en-US" sz="9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x</a:t>
                      </a:r>
                      <a:endParaRPr lang="en-US" sz="9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329184">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1000</a:t>
                      </a:r>
                      <a:endParaRPr lang="en-US" sz="9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OUT</a:t>
                      </a:r>
                      <a:endParaRPr lang="en-US" sz="9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0 (Reg)</a:t>
                      </a:r>
                      <a:endParaRPr lang="en-US" sz="9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011 (Pass)</a:t>
                      </a:r>
                      <a:endParaRPr lang="en-US" sz="9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x</a:t>
                      </a:r>
                      <a:endParaRPr lang="en-US" sz="9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329184">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1111</a:t>
                      </a:r>
                      <a:endParaRPr lang="en-US" sz="9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HALT</a:t>
                      </a:r>
                      <a:endParaRPr lang="en-US" sz="9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x</a:t>
                      </a:r>
                      <a:endParaRPr lang="en-US" sz="9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xxx</a:t>
                      </a:r>
                      <a:endParaRPr lang="en-US" sz="9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algn="ctr" indent="0" marL="0">
                        <a:buNone/>
                      </a:pPr>
                      <a:r>
                        <a:rPr lang="en-US" sz="900" dirty="0">
                          <a:solidFill>
                            <a:srgbClr val="000000"/>
                          </a:solidFill>
                          <a:latin typeface="Calibri" pitchFamily="34" charset="0"/>
                          <a:ea typeface="Calibri" pitchFamily="34" charset="-122"/>
                          <a:cs typeface="Calibri" pitchFamily="34" charset="-120"/>
                        </a:rPr>
                        <a:t>x</a:t>
                      </a:r>
                      <a:endParaRPr lang="en-US" sz="900" dirty="0">
                        <a:latin typeface="Calibri" charset="0"/>
                        <a:ea typeface="Calibri" charset="0"/>
                        <a:cs typeface="Calibr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31520" y="365760"/>
            <a:ext cx="7315200" cy="228600"/>
          </a:xfrm>
          <a:prstGeom prst="rect">
            <a:avLst/>
          </a:prstGeom>
          <a:noFill/>
          <a:ln/>
        </p:spPr>
        <p:txBody>
          <a:bodyPr wrap="square" lIns="0" tIns="0" rIns="0" bIns="0" rtlCol="0" anchor="ctr"/>
          <a:lstStyle/>
          <a:p>
            <a:pPr indent="0" marL="0">
              <a:buNone/>
            </a:pPr>
            <a:r>
              <a:rPr lang="en-US" sz="1000" b="1" spc="300" kern="0" dirty="0">
                <a:solidFill>
                  <a:srgbClr val="0D9488"/>
                </a:solidFill>
                <a:latin typeface="Calibri" pitchFamily="34" charset="0"/>
                <a:ea typeface="Calibri" pitchFamily="34" charset="-122"/>
                <a:cs typeface="Calibri" pitchFamily="34" charset="-120"/>
              </a:rPr>
              <a:t>KIỂM THỬ ĐỒ ÁN</a:t>
            </a:r>
            <a:endParaRPr lang="en-US" sz="1000" dirty="0"/>
          </a:p>
        </p:txBody>
      </p:sp>
      <p:sp>
        <p:nvSpPr>
          <p:cNvPr id="3" name="Text 1"/>
          <p:cNvSpPr/>
          <p:nvPr/>
        </p:nvSpPr>
        <p:spPr>
          <a:xfrm>
            <a:off x="731520" y="594360"/>
            <a:ext cx="7315200" cy="457200"/>
          </a:xfrm>
          <a:prstGeom prst="rect">
            <a:avLst/>
          </a:prstGeom>
          <a:noFill/>
          <a:ln/>
        </p:spPr>
        <p:txBody>
          <a:bodyPr wrap="square" lIns="0" tIns="0" rIns="0" bIns="0" rtlCol="0" anchor="ctr"/>
          <a:lstStyle/>
          <a:p>
            <a:pPr indent="0" marL="0">
              <a:buNone/>
            </a:pPr>
            <a:r>
              <a:rPr lang="en-US" sz="2600" b="1" dirty="0">
                <a:solidFill>
                  <a:srgbClr val="1E293B"/>
                </a:solidFill>
                <a:latin typeface="Georgia" pitchFamily="34" charset="0"/>
                <a:ea typeface="Georgia" pitchFamily="34" charset="-122"/>
                <a:cs typeface="Georgia" pitchFamily="34" charset="-120"/>
              </a:rPr>
              <a:t>Kiểm Thử Chương Trình &amp; Kết Quả Mô Phỏng</a:t>
            </a:r>
            <a:endParaRPr lang="en-US" sz="2600" dirty="0"/>
          </a:p>
        </p:txBody>
      </p:sp>
      <p:sp>
        <p:nvSpPr>
          <p:cNvPr id="4" name="Shape 2"/>
          <p:cNvSpPr/>
          <p:nvPr/>
        </p:nvSpPr>
        <p:spPr>
          <a:xfrm>
            <a:off x="731520" y="1280160"/>
            <a:ext cx="3291840" cy="3291840"/>
          </a:xfrm>
          <a:prstGeom prst="rect">
            <a:avLst/>
          </a:prstGeom>
          <a:solidFill>
            <a:srgbClr val="1E1E2E"/>
          </a:solidFill>
          <a:ln/>
          <a:effectLst>
            <a:outerShdw sx="100000" sy="100000" kx="0" ky="0" algn="bl" rotWithShape="0" blurRad="101600" dist="25400" dir="8100000">
              <a:srgbClr val="0F172A">
                <a:alpha val="8000"/>
              </a:srgbClr>
            </a:outerShdw>
          </a:effectLst>
        </p:spPr>
      </p:sp>
      <p:sp>
        <p:nvSpPr>
          <p:cNvPr id="5" name="Text 3"/>
          <p:cNvSpPr/>
          <p:nvPr/>
        </p:nvSpPr>
        <p:spPr>
          <a:xfrm>
            <a:off x="914400" y="1463040"/>
            <a:ext cx="2926080" cy="228600"/>
          </a:xfrm>
          <a:prstGeom prst="rect">
            <a:avLst/>
          </a:prstGeom>
          <a:noFill/>
          <a:ln/>
        </p:spPr>
        <p:txBody>
          <a:bodyPr wrap="square" lIns="0" tIns="0" rIns="0" bIns="0" rtlCol="0" anchor="ctr"/>
          <a:lstStyle/>
          <a:p>
            <a:pPr indent="0" marL="0">
              <a:buNone/>
            </a:pPr>
            <a:r>
              <a:rPr lang="en-US" sz="1000" b="1" dirty="0">
                <a:solidFill>
                  <a:srgbClr val="0D9488"/>
                </a:solidFill>
                <a:latin typeface="Consolas" pitchFamily="34" charset="0"/>
                <a:ea typeface="Consolas" pitchFamily="34" charset="-122"/>
                <a:cs typeface="Consolas" pitchFamily="34" charset="-120"/>
              </a:rPr>
              <a:t>TERMINAL - CODE MÃ MÁY (PROG.MEM)</a:t>
            </a:r>
            <a:endParaRPr lang="en-US" sz="1000" dirty="0"/>
          </a:p>
        </p:txBody>
      </p:sp>
      <p:sp>
        <p:nvSpPr>
          <p:cNvPr id="6" name="Text 4"/>
          <p:cNvSpPr/>
          <p:nvPr/>
        </p:nvSpPr>
        <p:spPr>
          <a:xfrm>
            <a:off x="914400" y="1828800"/>
            <a:ext cx="2926080" cy="2560320"/>
          </a:xfrm>
          <a:prstGeom prst="rect">
            <a:avLst/>
          </a:prstGeom>
          <a:noFill/>
          <a:ln/>
        </p:spPr>
        <p:txBody>
          <a:bodyPr wrap="square" lIns="0" tIns="0" rIns="0" bIns="0" rtlCol="0" anchor="ctr"/>
          <a:lstStyle/>
          <a:p>
            <a:pPr indent="0" marL="0">
              <a:buNone/>
            </a:pPr>
            <a:r>
              <a:rPr lang="en-US" sz="1100" dirty="0">
                <a:solidFill>
                  <a:srgbClr val="A6E22E"/>
                </a:solidFill>
                <a:latin typeface="Consolas" pitchFamily="34" charset="0"/>
                <a:ea typeface="Consolas" pitchFamily="34" charset="-122"/>
                <a:cs typeface="Consolas" pitchFamily="34" charset="-120"/>
              </a:rPr>
              <a:t>1A ; PC=0 | LOAD RAM[10] -&gt; R0 (5)
</a:t>
            </a:r>
            <a:pPr indent="0" marL="0">
              <a:buNone/>
            </a:pPr>
            <a:r>
              <a:rPr lang="en-US" sz="1100" dirty="0">
                <a:solidFill>
                  <a:srgbClr val="F8F8F2"/>
                </a:solidFill>
                <a:latin typeface="Consolas" pitchFamily="34" charset="0"/>
                <a:ea typeface="Consolas" pitchFamily="34" charset="-122"/>
                <a:cs typeface="Consolas" pitchFamily="34" charset="-120"/>
              </a:rPr>
              <a:t>54 ; PC=1 | MOV  R1, R0    -&gt; R1 (5)
</a:t>
            </a:r>
            <a:pPr indent="0" marL="0">
              <a:buNone/>
            </a:pPr>
            <a:r>
              <a:rPr lang="en-US" sz="1100" dirty="0">
                <a:solidFill>
                  <a:srgbClr val="A6E22E"/>
                </a:solidFill>
                <a:latin typeface="Consolas" pitchFamily="34" charset="0"/>
                <a:ea typeface="Consolas" pitchFamily="34" charset="-122"/>
                <a:cs typeface="Consolas" pitchFamily="34" charset="-120"/>
              </a:rPr>
              <a:t>1B ; PC=2 | LOAD RAM[11] -&gt; R0 (7)
</a:t>
            </a:r>
            <a:pPr indent="0" marL="0">
              <a:buNone/>
            </a:pPr>
            <a:r>
              <a:rPr lang="en-US" sz="1100" dirty="0">
                <a:solidFill>
                  <a:srgbClr val="F92672"/>
                </a:solidFill>
                <a:latin typeface="Consolas" pitchFamily="34" charset="0"/>
                <a:ea typeface="Consolas" pitchFamily="34" charset="-122"/>
                <a:cs typeface="Consolas" pitchFamily="34" charset="-120"/>
              </a:rPr>
              <a:t>34 ; PC=3 | ADD  R1, R0    -&gt; R1 (12)
</a:t>
            </a:r>
            <a:pPr indent="0" marL="0">
              <a:buNone/>
            </a:pPr>
            <a:r>
              <a:rPr lang="en-US" sz="1100" dirty="0">
                <a:solidFill>
                  <a:srgbClr val="F8F8F2"/>
                </a:solidFill>
                <a:latin typeface="Consolas" pitchFamily="34" charset="0"/>
                <a:ea typeface="Consolas" pitchFamily="34" charset="-122"/>
                <a:cs typeface="Consolas" pitchFamily="34" charset="-120"/>
              </a:rPr>
              <a:t>50 ; PC=4 | MOV  R0, R1    -&gt; R0 (12)
</a:t>
            </a:r>
            <a:pPr indent="0" marL="0">
              <a:buNone/>
            </a:pPr>
            <a:r>
              <a:rPr lang="en-US" sz="1100" dirty="0">
                <a:solidFill>
                  <a:srgbClr val="66D9EF"/>
                </a:solidFill>
                <a:latin typeface="Consolas" pitchFamily="34" charset="0"/>
                <a:ea typeface="Consolas" pitchFamily="34" charset="-122"/>
                <a:cs typeface="Consolas" pitchFamily="34" charset="-120"/>
              </a:rPr>
              <a:t>2C ; PC=5 | STORE R0       -&gt; RAM[12]
</a:t>
            </a:r>
            <a:pPr indent="0" marL="0">
              <a:buNone/>
            </a:pPr>
            <a:r>
              <a:rPr lang="en-US" sz="1100" dirty="0">
                <a:solidFill>
                  <a:srgbClr val="E6DB74"/>
                </a:solidFill>
                <a:latin typeface="Consolas" pitchFamily="34" charset="0"/>
                <a:ea typeface="Consolas" pitchFamily="34" charset="-122"/>
                <a:cs typeface="Consolas" pitchFamily="34" charset="-120"/>
              </a:rPr>
              <a:t>80 ; PC=6 | OUT  R0        -&gt; OUT=12
</a:t>
            </a:r>
            <a:pPr indent="0" marL="0">
              <a:buNone/>
            </a:pPr>
            <a:r>
              <a:rPr lang="en-US" sz="1100" dirty="0">
                <a:solidFill>
                  <a:srgbClr val="F92672"/>
                </a:solidFill>
                <a:latin typeface="Consolas" pitchFamily="34" charset="0"/>
                <a:ea typeface="Consolas" pitchFamily="34" charset="-122"/>
                <a:cs typeface="Consolas" pitchFamily="34" charset="-120"/>
              </a:rPr>
              <a:t>F0 ; PC=7 | HALT           -&gt; STOP</a:t>
            </a:r>
            <a:endParaRPr lang="en-US" sz="1100" dirty="0"/>
          </a:p>
        </p:txBody>
      </p:sp>
      <p:sp>
        <p:nvSpPr>
          <p:cNvPr id="7" name="Shape 5"/>
          <p:cNvSpPr/>
          <p:nvPr/>
        </p:nvSpPr>
        <p:spPr>
          <a:xfrm>
            <a:off x="4297680" y="1280160"/>
            <a:ext cx="4114800" cy="3291840"/>
          </a:xfrm>
          <a:prstGeom prst="rect">
            <a:avLst/>
          </a:prstGeom>
          <a:solidFill>
            <a:srgbClr val="FFFFFF"/>
          </a:solidFill>
          <a:ln w="12700">
            <a:solidFill>
              <a:srgbClr val="E2E8F0"/>
            </a:solidFill>
            <a:prstDash val="solid"/>
          </a:ln>
          <a:effectLst>
            <a:outerShdw sx="100000" sy="100000" kx="0" ky="0" algn="bl" rotWithShape="0" blurRad="101600" dist="25400" dir="8100000">
              <a:srgbClr val="0F172A">
                <a:alpha val="8000"/>
              </a:srgbClr>
            </a:outerShdw>
          </a:effectLst>
        </p:spPr>
      </p:sp>
      <p:sp>
        <p:nvSpPr>
          <p:cNvPr id="8" name="Text 6"/>
          <p:cNvSpPr/>
          <p:nvPr/>
        </p:nvSpPr>
        <p:spPr>
          <a:xfrm>
            <a:off x="4480560" y="1463040"/>
            <a:ext cx="3749040" cy="228600"/>
          </a:xfrm>
          <a:prstGeom prst="rect">
            <a:avLst/>
          </a:prstGeom>
          <a:noFill/>
          <a:ln/>
        </p:spPr>
        <p:txBody>
          <a:bodyPr wrap="square" lIns="0" tIns="0" rIns="0" bIns="0" rtlCol="0" anchor="ctr"/>
          <a:lstStyle/>
          <a:p>
            <a:pPr indent="0" marL="0">
              <a:buNone/>
            </a:pPr>
            <a:r>
              <a:rPr lang="en-US" sz="1100" b="1" spc="100" kern="0" dirty="0">
                <a:solidFill>
                  <a:srgbClr val="1E293B"/>
                </a:solidFill>
                <a:latin typeface="Calibri" pitchFamily="34" charset="0"/>
                <a:ea typeface="Calibri" pitchFamily="34" charset="-122"/>
                <a:cs typeface="Calibri" pitchFamily="34" charset="-120"/>
              </a:rPr>
              <a:t>TRÌNH TỰ MÔ PHỎNG (WAVEFORM LOG)</a:t>
            </a:r>
            <a:endParaRPr lang="en-US" sz="1100" dirty="0"/>
          </a:p>
        </p:txBody>
      </p:sp>
      <p:sp>
        <p:nvSpPr>
          <p:cNvPr id="9" name="Shape 7"/>
          <p:cNvSpPr/>
          <p:nvPr/>
        </p:nvSpPr>
        <p:spPr>
          <a:xfrm>
            <a:off x="4480560" y="1828800"/>
            <a:ext cx="731520" cy="320040"/>
          </a:xfrm>
          <a:prstGeom prst="rect">
            <a:avLst/>
          </a:prstGeom>
          <a:solidFill>
            <a:srgbClr val="CCFBF1"/>
          </a:solidFill>
          <a:ln w="12700">
            <a:solidFill>
              <a:srgbClr val="333333"/>
            </a:solidFill>
            <a:prstDash val="solid"/>
          </a:ln>
        </p:spPr>
      </p:sp>
      <p:sp>
        <p:nvSpPr>
          <p:cNvPr id="10" name="Text 8"/>
          <p:cNvSpPr/>
          <p:nvPr/>
        </p:nvSpPr>
        <p:spPr>
          <a:xfrm>
            <a:off x="4480560" y="1874520"/>
            <a:ext cx="731520" cy="228600"/>
          </a:xfrm>
          <a:prstGeom prst="rect">
            <a:avLst/>
          </a:prstGeom>
          <a:noFill/>
          <a:ln/>
        </p:spPr>
        <p:txBody>
          <a:bodyPr wrap="square" lIns="0" tIns="0" rIns="0" bIns="0" rtlCol="0" anchor="ctr"/>
          <a:lstStyle/>
          <a:p>
            <a:pPr algn="ctr" indent="0" marL="0">
              <a:buNone/>
            </a:pPr>
            <a:r>
              <a:rPr lang="en-US" sz="1000" b="1" dirty="0">
                <a:solidFill>
                  <a:srgbClr val="0D9488"/>
                </a:solidFill>
                <a:latin typeface="Calibri" pitchFamily="34" charset="0"/>
                <a:ea typeface="Calibri" pitchFamily="34" charset="-122"/>
                <a:cs typeface="Calibri" pitchFamily="34" charset="-120"/>
              </a:rPr>
              <a:t>t = 10ns</a:t>
            </a:r>
            <a:endParaRPr lang="en-US" sz="1000" dirty="0"/>
          </a:p>
        </p:txBody>
      </p:sp>
      <p:sp>
        <p:nvSpPr>
          <p:cNvPr id="11" name="Text 9"/>
          <p:cNvSpPr/>
          <p:nvPr/>
        </p:nvSpPr>
        <p:spPr>
          <a:xfrm>
            <a:off x="5303520" y="1783080"/>
            <a:ext cx="2926080" cy="457200"/>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Reset (rst_n) được kích hoạt lên mức 1, CPU bắt đầu hoạt động.</a:t>
            </a:r>
            <a:endParaRPr lang="en-US" sz="1050" dirty="0"/>
          </a:p>
        </p:txBody>
      </p:sp>
      <p:sp>
        <p:nvSpPr>
          <p:cNvPr id="12" name="Shape 10"/>
          <p:cNvSpPr/>
          <p:nvPr/>
        </p:nvSpPr>
        <p:spPr>
          <a:xfrm>
            <a:off x="4480560" y="2359152"/>
            <a:ext cx="731520" cy="320040"/>
          </a:xfrm>
          <a:prstGeom prst="rect">
            <a:avLst/>
          </a:prstGeom>
          <a:solidFill>
            <a:srgbClr val="CCFBF1"/>
          </a:solidFill>
          <a:ln w="12700">
            <a:solidFill>
              <a:srgbClr val="333333"/>
            </a:solidFill>
            <a:prstDash val="solid"/>
          </a:ln>
        </p:spPr>
      </p:sp>
      <p:sp>
        <p:nvSpPr>
          <p:cNvPr id="13" name="Text 11"/>
          <p:cNvSpPr/>
          <p:nvPr/>
        </p:nvSpPr>
        <p:spPr>
          <a:xfrm>
            <a:off x="4480560" y="2404872"/>
            <a:ext cx="731520" cy="228600"/>
          </a:xfrm>
          <a:prstGeom prst="rect">
            <a:avLst/>
          </a:prstGeom>
          <a:noFill/>
          <a:ln/>
        </p:spPr>
        <p:txBody>
          <a:bodyPr wrap="square" lIns="0" tIns="0" rIns="0" bIns="0" rtlCol="0" anchor="ctr"/>
          <a:lstStyle/>
          <a:p>
            <a:pPr algn="ctr" indent="0" marL="0">
              <a:buNone/>
            </a:pPr>
            <a:r>
              <a:rPr lang="en-US" sz="1000" b="1" dirty="0">
                <a:solidFill>
                  <a:srgbClr val="0D9488"/>
                </a:solidFill>
                <a:latin typeface="Calibri" pitchFamily="34" charset="0"/>
                <a:ea typeface="Calibri" pitchFamily="34" charset="-122"/>
                <a:cs typeface="Calibri" pitchFamily="34" charset="-120"/>
              </a:rPr>
              <a:t>t = 30ns</a:t>
            </a:r>
            <a:endParaRPr lang="en-US" sz="1000" dirty="0"/>
          </a:p>
        </p:txBody>
      </p:sp>
      <p:sp>
        <p:nvSpPr>
          <p:cNvPr id="14" name="Text 12"/>
          <p:cNvSpPr/>
          <p:nvPr/>
        </p:nvSpPr>
        <p:spPr>
          <a:xfrm>
            <a:off x="5303520" y="2313432"/>
            <a:ext cx="2926080" cy="457200"/>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PC=0, đọc lệnh 1A: Nạp giá trị 5 từ RAM[10] vào R0 thành công.</a:t>
            </a:r>
            <a:endParaRPr lang="en-US" sz="1050" dirty="0"/>
          </a:p>
        </p:txBody>
      </p:sp>
      <p:sp>
        <p:nvSpPr>
          <p:cNvPr id="15" name="Shape 13"/>
          <p:cNvSpPr/>
          <p:nvPr/>
        </p:nvSpPr>
        <p:spPr>
          <a:xfrm>
            <a:off x="4480560" y="2889504"/>
            <a:ext cx="731520" cy="320040"/>
          </a:xfrm>
          <a:prstGeom prst="rect">
            <a:avLst/>
          </a:prstGeom>
          <a:solidFill>
            <a:srgbClr val="CCFBF1"/>
          </a:solidFill>
          <a:ln w="12700">
            <a:solidFill>
              <a:srgbClr val="333333"/>
            </a:solidFill>
            <a:prstDash val="solid"/>
          </a:ln>
        </p:spPr>
      </p:sp>
      <p:sp>
        <p:nvSpPr>
          <p:cNvPr id="16" name="Text 14"/>
          <p:cNvSpPr/>
          <p:nvPr/>
        </p:nvSpPr>
        <p:spPr>
          <a:xfrm>
            <a:off x="4480560" y="2935224"/>
            <a:ext cx="731520" cy="228600"/>
          </a:xfrm>
          <a:prstGeom prst="rect">
            <a:avLst/>
          </a:prstGeom>
          <a:noFill/>
          <a:ln/>
        </p:spPr>
        <p:txBody>
          <a:bodyPr wrap="square" lIns="0" tIns="0" rIns="0" bIns="0" rtlCol="0" anchor="ctr"/>
          <a:lstStyle/>
          <a:p>
            <a:pPr algn="ctr" indent="0" marL="0">
              <a:buNone/>
            </a:pPr>
            <a:r>
              <a:rPr lang="en-US" sz="1000" b="1" dirty="0">
                <a:solidFill>
                  <a:srgbClr val="0D9488"/>
                </a:solidFill>
                <a:latin typeface="Calibri" pitchFamily="34" charset="0"/>
                <a:ea typeface="Calibri" pitchFamily="34" charset="-122"/>
                <a:cs typeface="Calibri" pitchFamily="34" charset="-120"/>
              </a:rPr>
              <a:t>t = 90ns</a:t>
            </a:r>
            <a:endParaRPr lang="en-US" sz="1000" dirty="0"/>
          </a:p>
        </p:txBody>
      </p:sp>
      <p:sp>
        <p:nvSpPr>
          <p:cNvPr id="17" name="Text 15"/>
          <p:cNvSpPr/>
          <p:nvPr/>
        </p:nvSpPr>
        <p:spPr>
          <a:xfrm>
            <a:off x="5303520" y="2843784"/>
            <a:ext cx="2926080" cy="457200"/>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PC=3, lệnh 34: Thực hiện R1 = R1 (5) + R0 (7). Kết quả R1 = 12.</a:t>
            </a:r>
            <a:endParaRPr lang="en-US" sz="1050" dirty="0"/>
          </a:p>
        </p:txBody>
      </p:sp>
      <p:sp>
        <p:nvSpPr>
          <p:cNvPr id="18" name="Shape 16"/>
          <p:cNvSpPr/>
          <p:nvPr/>
        </p:nvSpPr>
        <p:spPr>
          <a:xfrm>
            <a:off x="4480560" y="3419856"/>
            <a:ext cx="731520" cy="320040"/>
          </a:xfrm>
          <a:prstGeom prst="rect">
            <a:avLst/>
          </a:prstGeom>
          <a:solidFill>
            <a:srgbClr val="CCFBF1"/>
          </a:solidFill>
          <a:ln w="12700">
            <a:solidFill>
              <a:srgbClr val="333333"/>
            </a:solidFill>
            <a:prstDash val="solid"/>
          </a:ln>
        </p:spPr>
      </p:sp>
      <p:sp>
        <p:nvSpPr>
          <p:cNvPr id="19" name="Text 17"/>
          <p:cNvSpPr/>
          <p:nvPr/>
        </p:nvSpPr>
        <p:spPr>
          <a:xfrm>
            <a:off x="4480560" y="3465576"/>
            <a:ext cx="731520" cy="228600"/>
          </a:xfrm>
          <a:prstGeom prst="rect">
            <a:avLst/>
          </a:prstGeom>
          <a:noFill/>
          <a:ln/>
        </p:spPr>
        <p:txBody>
          <a:bodyPr wrap="square" lIns="0" tIns="0" rIns="0" bIns="0" rtlCol="0" anchor="ctr"/>
          <a:lstStyle/>
          <a:p>
            <a:pPr algn="ctr" indent="0" marL="0">
              <a:buNone/>
            </a:pPr>
            <a:r>
              <a:rPr lang="en-US" sz="1000" b="1" dirty="0">
                <a:solidFill>
                  <a:srgbClr val="0D9488"/>
                </a:solidFill>
                <a:latin typeface="Calibri" pitchFamily="34" charset="0"/>
                <a:ea typeface="Calibri" pitchFamily="34" charset="-122"/>
                <a:cs typeface="Calibri" pitchFamily="34" charset="-120"/>
              </a:rPr>
              <a:t>t = 130ns</a:t>
            </a:r>
            <a:endParaRPr lang="en-US" sz="1000" dirty="0"/>
          </a:p>
        </p:txBody>
      </p:sp>
      <p:sp>
        <p:nvSpPr>
          <p:cNvPr id="20" name="Text 18"/>
          <p:cNvSpPr/>
          <p:nvPr/>
        </p:nvSpPr>
        <p:spPr>
          <a:xfrm>
            <a:off x="5303520" y="3374136"/>
            <a:ext cx="2926080" cy="457200"/>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PC=5, lệnh 2C: Ghi giá trị 12 từ R0 vào ô nhớ RAM[12].</a:t>
            </a:r>
            <a:endParaRPr lang="en-US" sz="1050" dirty="0"/>
          </a:p>
        </p:txBody>
      </p:sp>
      <p:sp>
        <p:nvSpPr>
          <p:cNvPr id="21" name="Shape 19"/>
          <p:cNvSpPr/>
          <p:nvPr/>
        </p:nvSpPr>
        <p:spPr>
          <a:xfrm>
            <a:off x="4480560" y="3950208"/>
            <a:ext cx="731520" cy="320040"/>
          </a:xfrm>
          <a:prstGeom prst="rect">
            <a:avLst/>
          </a:prstGeom>
          <a:solidFill>
            <a:srgbClr val="CCFBF1"/>
          </a:solidFill>
          <a:ln w="12700">
            <a:solidFill>
              <a:srgbClr val="333333"/>
            </a:solidFill>
            <a:prstDash val="solid"/>
          </a:ln>
        </p:spPr>
      </p:sp>
      <p:sp>
        <p:nvSpPr>
          <p:cNvPr id="22" name="Text 20"/>
          <p:cNvSpPr/>
          <p:nvPr/>
        </p:nvSpPr>
        <p:spPr>
          <a:xfrm>
            <a:off x="4480560" y="3995928"/>
            <a:ext cx="731520" cy="228600"/>
          </a:xfrm>
          <a:prstGeom prst="rect">
            <a:avLst/>
          </a:prstGeom>
          <a:noFill/>
          <a:ln/>
        </p:spPr>
        <p:txBody>
          <a:bodyPr wrap="square" lIns="0" tIns="0" rIns="0" bIns="0" rtlCol="0" anchor="ctr"/>
          <a:lstStyle/>
          <a:p>
            <a:pPr algn="ctr" indent="0" marL="0">
              <a:buNone/>
            </a:pPr>
            <a:r>
              <a:rPr lang="en-US" sz="1000" b="1" dirty="0">
                <a:solidFill>
                  <a:srgbClr val="0D9488"/>
                </a:solidFill>
                <a:latin typeface="Calibri" pitchFamily="34" charset="0"/>
                <a:ea typeface="Calibri" pitchFamily="34" charset="-122"/>
                <a:cs typeface="Calibri" pitchFamily="34" charset="-120"/>
              </a:rPr>
              <a:t>t = 150ns</a:t>
            </a:r>
            <a:endParaRPr lang="en-US" sz="1000" dirty="0"/>
          </a:p>
        </p:txBody>
      </p:sp>
      <p:sp>
        <p:nvSpPr>
          <p:cNvPr id="23" name="Text 21"/>
          <p:cNvSpPr/>
          <p:nvPr/>
        </p:nvSpPr>
        <p:spPr>
          <a:xfrm>
            <a:off x="5303520" y="3904488"/>
            <a:ext cx="2926080" cy="457200"/>
          </a:xfrm>
          <a:prstGeom prst="rect">
            <a:avLst/>
          </a:prstGeom>
          <a:noFill/>
          <a:ln/>
        </p:spPr>
        <p:txBody>
          <a:bodyPr wrap="square" lIns="0" tIns="0" rIns="0" bIns="0" rtlCol="0" anchor="ctr"/>
          <a:lstStyle/>
          <a:p>
            <a:pPr indent="0" marL="0">
              <a:buNone/>
            </a:pPr>
            <a:r>
              <a:rPr lang="en-US" sz="1050" dirty="0">
                <a:solidFill>
                  <a:srgbClr val="475569"/>
                </a:solidFill>
                <a:latin typeface="Calibri" pitchFamily="34" charset="0"/>
                <a:ea typeface="Calibri" pitchFamily="34" charset="-122"/>
                <a:cs typeface="Calibri" pitchFamily="34" charset="-120"/>
              </a:rPr>
              <a:t>PC=6, lệnh OUT: Giá trị 12 xuất ra cổng ngoài. Nhận tín hiệu HALT dừng máy.</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274320" cy="5143500"/>
          </a:xfrm>
          <a:prstGeom prst="rect">
            <a:avLst/>
          </a:prstGeom>
          <a:solidFill>
            <a:srgbClr val="0D9488"/>
          </a:solidFill>
          <a:ln/>
        </p:spPr>
      </p:sp>
      <p:sp>
        <p:nvSpPr>
          <p:cNvPr id="3" name="Text 1"/>
          <p:cNvSpPr/>
          <p:nvPr/>
        </p:nvSpPr>
        <p:spPr>
          <a:xfrm>
            <a:off x="731520" y="365760"/>
            <a:ext cx="7315200" cy="228600"/>
          </a:xfrm>
          <a:prstGeom prst="rect">
            <a:avLst/>
          </a:prstGeom>
          <a:noFill/>
          <a:ln/>
        </p:spPr>
        <p:txBody>
          <a:bodyPr wrap="square" lIns="0" tIns="0" rIns="0" bIns="0" rtlCol="0" anchor="ctr"/>
          <a:lstStyle/>
          <a:p>
            <a:pPr indent="0" marL="0">
              <a:buNone/>
            </a:pPr>
            <a:r>
              <a:rPr lang="en-US" sz="1000" b="1" spc="300" kern="0" dirty="0">
                <a:solidFill>
                  <a:srgbClr val="0D9488"/>
                </a:solidFill>
                <a:latin typeface="Calibri" pitchFamily="34" charset="0"/>
                <a:ea typeface="Calibri" pitchFamily="34" charset="-122"/>
                <a:cs typeface="Calibri" pitchFamily="34" charset="-120"/>
              </a:rPr>
              <a:t>TỔNG KẾT ĐỒ ÁN</a:t>
            </a:r>
            <a:endParaRPr lang="en-US" sz="1000" dirty="0"/>
          </a:p>
        </p:txBody>
      </p:sp>
      <p:sp>
        <p:nvSpPr>
          <p:cNvPr id="4" name="Text 2"/>
          <p:cNvSpPr/>
          <p:nvPr/>
        </p:nvSpPr>
        <p:spPr>
          <a:xfrm>
            <a:off x="731520" y="594360"/>
            <a:ext cx="7315200" cy="457200"/>
          </a:xfrm>
          <a:prstGeom prst="rect">
            <a:avLst/>
          </a:prstGeom>
          <a:noFill/>
          <a:ln/>
        </p:spPr>
        <p:txBody>
          <a:bodyPr wrap="square" lIns="0" tIns="0" rIns="0" bIns="0"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Kết Luận &amp; Hướng Phát Triển Đề Tài</a:t>
            </a:r>
            <a:endParaRPr lang="en-US" sz="2600" dirty="0"/>
          </a:p>
        </p:txBody>
      </p:sp>
      <p:sp>
        <p:nvSpPr>
          <p:cNvPr id="5" name="Shape 3"/>
          <p:cNvSpPr/>
          <p:nvPr/>
        </p:nvSpPr>
        <p:spPr>
          <a:xfrm>
            <a:off x="731520" y="1371600"/>
            <a:ext cx="2926080" cy="3108960"/>
          </a:xfrm>
          <a:prstGeom prst="rect">
            <a:avLst/>
          </a:prstGeom>
          <a:solidFill>
            <a:srgbClr val="1E293B"/>
          </a:solidFill>
          <a:ln/>
        </p:spPr>
      </p:sp>
      <p:sp>
        <p:nvSpPr>
          <p:cNvPr id="6" name="Text 4"/>
          <p:cNvSpPr/>
          <p:nvPr/>
        </p:nvSpPr>
        <p:spPr>
          <a:xfrm>
            <a:off x="914400" y="1645920"/>
            <a:ext cx="2560320" cy="274320"/>
          </a:xfrm>
          <a:prstGeom prst="rect">
            <a:avLst/>
          </a:prstGeom>
          <a:noFill/>
          <a:ln/>
        </p:spPr>
        <p:txBody>
          <a:bodyPr wrap="square" lIns="0" tIns="0" rIns="0" bIns="0" rtlCol="0" anchor="ctr"/>
          <a:lstStyle/>
          <a:p>
            <a:pPr indent="0" marL="0">
              <a:buNone/>
            </a:pPr>
            <a:r>
              <a:rPr lang="en-US" sz="1100" b="1" spc="200" kern="0" dirty="0">
                <a:solidFill>
                  <a:srgbClr val="0D9488"/>
                </a:solidFill>
                <a:latin typeface="Calibri" pitchFamily="34" charset="0"/>
                <a:ea typeface="Calibri" pitchFamily="34" charset="-122"/>
                <a:cs typeface="Calibri" pitchFamily="34" charset="-120"/>
              </a:rPr>
              <a:t>CHẤT LƯỢNG MÔ PHỎNG</a:t>
            </a:r>
            <a:endParaRPr lang="en-US" sz="1100" dirty="0"/>
          </a:p>
        </p:txBody>
      </p:sp>
      <p:sp>
        <p:nvSpPr>
          <p:cNvPr id="7" name="Text 5"/>
          <p:cNvSpPr/>
          <p:nvPr/>
        </p:nvSpPr>
        <p:spPr>
          <a:xfrm>
            <a:off x="914400" y="2011680"/>
            <a:ext cx="2560320" cy="822960"/>
          </a:xfrm>
          <a:prstGeom prst="rect">
            <a:avLst/>
          </a:prstGeom>
          <a:noFill/>
          <a:ln/>
        </p:spPr>
        <p:txBody>
          <a:bodyPr wrap="square" lIns="0" tIns="0" rIns="0" bIns="0" rtlCol="0" anchor="ctr"/>
          <a:lstStyle/>
          <a:p>
            <a:pPr indent="0" marL="0">
              <a:buNone/>
            </a:pPr>
            <a:r>
              <a:rPr lang="en-US" sz="7200" b="1" dirty="0">
                <a:solidFill>
                  <a:srgbClr val="FFFFFF"/>
                </a:solidFill>
                <a:latin typeface="Georgia" pitchFamily="34" charset="0"/>
                <a:ea typeface="Georgia" pitchFamily="34" charset="-122"/>
                <a:cs typeface="Georgia" pitchFamily="34" charset="-120"/>
              </a:rPr>
              <a:t>100%</a:t>
            </a:r>
            <a:endParaRPr lang="en-US" sz="7200" dirty="0"/>
          </a:p>
        </p:txBody>
      </p:sp>
      <p:sp>
        <p:nvSpPr>
          <p:cNvPr id="8" name="Text 6"/>
          <p:cNvSpPr/>
          <p:nvPr/>
        </p:nvSpPr>
        <p:spPr>
          <a:xfrm>
            <a:off x="914400" y="2926080"/>
            <a:ext cx="2560320" cy="1280160"/>
          </a:xfrm>
          <a:prstGeom prst="rect">
            <a:avLst/>
          </a:prstGeom>
          <a:noFill/>
          <a:ln/>
        </p:spPr>
        <p:txBody>
          <a:bodyPr wrap="square" lIns="0" tIns="0" rIns="0" bIns="0" rtlCol="0" anchor="ctr"/>
          <a:lstStyle/>
          <a:p>
            <a:pPr indent="0" marL="0">
              <a:buNone/>
            </a:pPr>
            <a:r>
              <a:rPr lang="en-US" sz="1200" dirty="0">
                <a:solidFill>
                  <a:srgbClr val="94A3B8"/>
                </a:solidFill>
                <a:latin typeface="Calibri" pitchFamily="34" charset="0"/>
                <a:ea typeface="Calibri" pitchFamily="34" charset="-122"/>
                <a:cs typeface="Calibri" pitchFamily="34" charset="-120"/>
              </a:rPr>
              <a:t>Các chức năng tính toán số học, rẽ nhánh điều kiện và ghi dữ liệu bộ nhớ đều đạt độ chính xác hoàn đối đối chứng trực tiếp qua giản đồ xung sóng (waveform).</a:t>
            </a:r>
            <a:endParaRPr lang="en-US" sz="1200" dirty="0"/>
          </a:p>
        </p:txBody>
      </p:sp>
      <p:sp>
        <p:nvSpPr>
          <p:cNvPr id="9" name="Shape 7"/>
          <p:cNvSpPr/>
          <p:nvPr/>
        </p:nvSpPr>
        <p:spPr>
          <a:xfrm>
            <a:off x="3931920" y="1371600"/>
            <a:ext cx="4480560" cy="914400"/>
          </a:xfrm>
          <a:prstGeom prst="rect">
            <a:avLst/>
          </a:prstGeom>
          <a:solidFill>
            <a:srgbClr val="1E293B"/>
          </a:solidFill>
          <a:ln/>
        </p:spPr>
      </p:sp>
      <p:sp>
        <p:nvSpPr>
          <p:cNvPr id="10" name="Shape 8"/>
          <p:cNvSpPr/>
          <p:nvPr/>
        </p:nvSpPr>
        <p:spPr>
          <a:xfrm>
            <a:off x="3931920" y="1371600"/>
            <a:ext cx="54864" cy="914400"/>
          </a:xfrm>
          <a:prstGeom prst="rect">
            <a:avLst/>
          </a:prstGeom>
          <a:solidFill>
            <a:srgbClr val="0D9488"/>
          </a:solidFill>
          <a:ln/>
        </p:spPr>
      </p:sp>
      <p:sp>
        <p:nvSpPr>
          <p:cNvPr id="11" name="Text 9"/>
          <p:cNvSpPr/>
          <p:nvPr/>
        </p:nvSpPr>
        <p:spPr>
          <a:xfrm>
            <a:off x="4114800" y="1508760"/>
            <a:ext cx="4114800" cy="274320"/>
          </a:xfrm>
          <a:prstGeom prst="rect">
            <a:avLst/>
          </a:prstGeom>
          <a:noFill/>
          <a:ln/>
        </p:spPr>
        <p:txBody>
          <a:bodyPr wrap="square" lIns="0" tIns="0" rIns="0" bIns="0" rtlCol="0" anchor="ctr"/>
          <a:lstStyle/>
          <a:p>
            <a:pPr indent="0" marL="0">
              <a:buNone/>
            </a:pPr>
            <a:r>
              <a:rPr lang="en-US" sz="1400" b="1" dirty="0">
                <a:solidFill>
                  <a:srgbClr val="FFFFFF"/>
                </a:solidFill>
                <a:latin typeface="Georgia" pitchFamily="34" charset="0"/>
                <a:ea typeface="Georgia" pitchFamily="34" charset="-122"/>
                <a:cs typeface="Georgia" pitchFamily="34" charset="-120"/>
              </a:rPr>
              <a:t>Hoàn thiện RTL Flow</a:t>
            </a:r>
            <a:endParaRPr lang="en-US" sz="1400" dirty="0"/>
          </a:p>
        </p:txBody>
      </p:sp>
      <p:sp>
        <p:nvSpPr>
          <p:cNvPr id="12" name="Text 10"/>
          <p:cNvSpPr/>
          <p:nvPr/>
        </p:nvSpPr>
        <p:spPr>
          <a:xfrm>
            <a:off x="4114800" y="1783080"/>
            <a:ext cx="4114800" cy="411480"/>
          </a:xfrm>
          <a:prstGeom prst="rect">
            <a:avLst/>
          </a:prstGeom>
          <a:noFill/>
          <a:ln/>
        </p:spPr>
        <p:txBody>
          <a:bodyPr wrap="square" lIns="0" tIns="0" rIns="0" bIns="0" rtlCol="0" anchor="ctr"/>
          <a:lstStyle/>
          <a:p>
            <a:pPr indent="0" marL="0">
              <a:buNone/>
            </a:pPr>
            <a:r>
              <a:rPr lang="en-US" sz="1200" dirty="0">
                <a:solidFill>
                  <a:srgbClr val="94A3B8"/>
                </a:solidFill>
                <a:latin typeface="Calibri" pitchFamily="34" charset="0"/>
                <a:ea typeface="Calibri" pitchFamily="34" charset="-122"/>
                <a:cs typeface="Calibri" pitchFamily="34" charset="-120"/>
              </a:rPr>
              <a:t>Thiết kế thành công toàn bộ kiến trúc lõi CPU bằng Verilog chuẩn hóa.</a:t>
            </a:r>
            <a:endParaRPr lang="en-US" sz="1200" dirty="0"/>
          </a:p>
        </p:txBody>
      </p:sp>
      <p:sp>
        <p:nvSpPr>
          <p:cNvPr id="13" name="Shape 11"/>
          <p:cNvSpPr/>
          <p:nvPr/>
        </p:nvSpPr>
        <p:spPr>
          <a:xfrm>
            <a:off x="3931920" y="2423160"/>
            <a:ext cx="4480560" cy="914400"/>
          </a:xfrm>
          <a:prstGeom prst="rect">
            <a:avLst/>
          </a:prstGeom>
          <a:solidFill>
            <a:srgbClr val="1E293B"/>
          </a:solidFill>
          <a:ln/>
        </p:spPr>
      </p:sp>
      <p:sp>
        <p:nvSpPr>
          <p:cNvPr id="14" name="Shape 12"/>
          <p:cNvSpPr/>
          <p:nvPr/>
        </p:nvSpPr>
        <p:spPr>
          <a:xfrm>
            <a:off x="3931920" y="2423160"/>
            <a:ext cx="54864" cy="914400"/>
          </a:xfrm>
          <a:prstGeom prst="rect">
            <a:avLst/>
          </a:prstGeom>
          <a:solidFill>
            <a:srgbClr val="0D9488"/>
          </a:solidFill>
          <a:ln/>
        </p:spPr>
      </p:sp>
      <p:sp>
        <p:nvSpPr>
          <p:cNvPr id="15" name="Text 13"/>
          <p:cNvSpPr/>
          <p:nvPr/>
        </p:nvSpPr>
        <p:spPr>
          <a:xfrm>
            <a:off x="4114800" y="2560320"/>
            <a:ext cx="4114800" cy="274320"/>
          </a:xfrm>
          <a:prstGeom prst="rect">
            <a:avLst/>
          </a:prstGeom>
          <a:noFill/>
          <a:ln/>
        </p:spPr>
        <p:txBody>
          <a:bodyPr wrap="square" lIns="0" tIns="0" rIns="0" bIns="0" rtlCol="0" anchor="ctr"/>
          <a:lstStyle/>
          <a:p>
            <a:pPr indent="0" marL="0">
              <a:buNone/>
            </a:pPr>
            <a:r>
              <a:rPr lang="en-US" sz="1400" b="1" dirty="0">
                <a:solidFill>
                  <a:srgbClr val="FFFFFF"/>
                </a:solidFill>
                <a:latin typeface="Georgia" pitchFamily="34" charset="0"/>
                <a:ea typeface="Georgia" pitchFamily="34" charset="-122"/>
                <a:cs typeface="Georgia" pitchFamily="34" charset="-120"/>
              </a:rPr>
              <a:t>Sửa lỗi treo Simulator</a:t>
            </a:r>
            <a:endParaRPr lang="en-US" sz="1400" dirty="0"/>
          </a:p>
        </p:txBody>
      </p:sp>
      <p:sp>
        <p:nvSpPr>
          <p:cNvPr id="16" name="Text 14"/>
          <p:cNvSpPr/>
          <p:nvPr/>
        </p:nvSpPr>
        <p:spPr>
          <a:xfrm>
            <a:off x="4114800" y="2834640"/>
            <a:ext cx="4114800" cy="411480"/>
          </a:xfrm>
          <a:prstGeom prst="rect">
            <a:avLst/>
          </a:prstGeom>
          <a:noFill/>
          <a:ln/>
        </p:spPr>
        <p:txBody>
          <a:bodyPr wrap="square" lIns="0" tIns="0" rIns="0" bIns="0" rtlCol="0" anchor="ctr"/>
          <a:lstStyle/>
          <a:p>
            <a:pPr indent="0" marL="0">
              <a:buNone/>
            </a:pPr>
            <a:r>
              <a:rPr lang="en-US" sz="1200" dirty="0">
                <a:solidFill>
                  <a:srgbClr val="94A3B8"/>
                </a:solidFill>
                <a:latin typeface="Calibri" pitchFamily="34" charset="0"/>
                <a:ea typeface="Calibri" pitchFamily="34" charset="-122"/>
                <a:cs typeface="Calibri" pitchFamily="34" charset="-120"/>
              </a:rPr>
              <a:t>Loại bỏ hoàn toàn combinational feedback loop tại Control Unit giúp mạch chạy ổn định.</a:t>
            </a:r>
            <a:endParaRPr lang="en-US" sz="1200" dirty="0"/>
          </a:p>
        </p:txBody>
      </p:sp>
      <p:sp>
        <p:nvSpPr>
          <p:cNvPr id="17" name="Shape 15"/>
          <p:cNvSpPr/>
          <p:nvPr/>
        </p:nvSpPr>
        <p:spPr>
          <a:xfrm>
            <a:off x="3931920" y="3474720"/>
            <a:ext cx="4480560" cy="914400"/>
          </a:xfrm>
          <a:prstGeom prst="rect">
            <a:avLst/>
          </a:prstGeom>
          <a:solidFill>
            <a:srgbClr val="1E293B"/>
          </a:solidFill>
          <a:ln/>
        </p:spPr>
      </p:sp>
      <p:sp>
        <p:nvSpPr>
          <p:cNvPr id="18" name="Shape 16"/>
          <p:cNvSpPr/>
          <p:nvPr/>
        </p:nvSpPr>
        <p:spPr>
          <a:xfrm>
            <a:off x="3931920" y="3474720"/>
            <a:ext cx="54864" cy="914400"/>
          </a:xfrm>
          <a:prstGeom prst="rect">
            <a:avLst/>
          </a:prstGeom>
          <a:solidFill>
            <a:srgbClr val="0D9488"/>
          </a:solidFill>
          <a:ln/>
        </p:spPr>
      </p:sp>
      <p:sp>
        <p:nvSpPr>
          <p:cNvPr id="19" name="Text 17"/>
          <p:cNvSpPr/>
          <p:nvPr/>
        </p:nvSpPr>
        <p:spPr>
          <a:xfrm>
            <a:off x="4114800" y="3611880"/>
            <a:ext cx="4114800" cy="274320"/>
          </a:xfrm>
          <a:prstGeom prst="rect">
            <a:avLst/>
          </a:prstGeom>
          <a:noFill/>
          <a:ln/>
        </p:spPr>
        <p:txBody>
          <a:bodyPr wrap="square" lIns="0" tIns="0" rIns="0" bIns="0" rtlCol="0" anchor="ctr"/>
          <a:lstStyle/>
          <a:p>
            <a:pPr indent="0" marL="0">
              <a:buNone/>
            </a:pPr>
            <a:r>
              <a:rPr lang="en-US" sz="1400" b="1" dirty="0">
                <a:solidFill>
                  <a:srgbClr val="FFFFFF"/>
                </a:solidFill>
                <a:latin typeface="Georgia" pitchFamily="34" charset="0"/>
                <a:ea typeface="Georgia" pitchFamily="34" charset="-122"/>
                <a:cs typeface="Georgia" pitchFamily="34" charset="-120"/>
              </a:rPr>
              <a:t>Hướng phát triển tương lai</a:t>
            </a:r>
            <a:endParaRPr lang="en-US" sz="1400" dirty="0"/>
          </a:p>
        </p:txBody>
      </p:sp>
      <p:sp>
        <p:nvSpPr>
          <p:cNvPr id="20" name="Text 18"/>
          <p:cNvSpPr/>
          <p:nvPr/>
        </p:nvSpPr>
        <p:spPr>
          <a:xfrm>
            <a:off x="4114800" y="3886200"/>
            <a:ext cx="4114800" cy="411480"/>
          </a:xfrm>
          <a:prstGeom prst="rect">
            <a:avLst/>
          </a:prstGeom>
          <a:noFill/>
          <a:ln/>
        </p:spPr>
        <p:txBody>
          <a:bodyPr wrap="square" lIns="0" tIns="0" rIns="0" bIns="0" rtlCol="0" anchor="ctr"/>
          <a:lstStyle/>
          <a:p>
            <a:pPr indent="0" marL="0">
              <a:buNone/>
            </a:pPr>
            <a:r>
              <a:rPr lang="en-US" sz="1200" dirty="0">
                <a:solidFill>
                  <a:srgbClr val="94A3B8"/>
                </a:solidFill>
                <a:latin typeface="Calibri" pitchFamily="34" charset="0"/>
                <a:ea typeface="Calibri" pitchFamily="34" charset="-122"/>
                <a:cs typeface="Calibri" pitchFamily="34" charset="-120"/>
              </a:rPr>
              <a:t>Mở rộng tập lệnh lên 16-bit, bổ sung bộ nhân chuyên dụng (multiplier) và tổng hợp ASIC.</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Premium 4-Bit CPU Presentation</dc:title>
  <dc:subject>PptxGenJS Presentation</dc:subject>
  <dc:creator>Antigravity AI</dc:creator>
  <cp:lastModifiedBy>Antigravity AI</cp:lastModifiedBy>
  <cp:revision>1</cp:revision>
  <dcterms:created xsi:type="dcterms:W3CDTF">2026-07-09T19:30:46Z</dcterms:created>
  <dcterms:modified xsi:type="dcterms:W3CDTF">2026-07-09T19:30:46Z</dcterms:modified>
</cp:coreProperties>
</file>