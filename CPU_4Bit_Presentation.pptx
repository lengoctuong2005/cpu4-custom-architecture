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1645920"/>
            <a:ext cx="91440" cy="2011680"/>
          </a:xfrm>
          <a:prstGeom prst="rect">
            <a:avLst/>
          </a:prstGeom>
          <a:solidFill>
            <a:srgbClr val="39A78E"/>
          </a:solidFill>
          <a:ln/>
        </p:spPr>
      </p:sp>
      <p:sp>
        <p:nvSpPr>
          <p:cNvPr id="3" name="Text 1"/>
          <p:cNvSpPr/>
          <p:nvPr/>
        </p:nvSpPr>
        <p:spPr>
          <a:xfrm>
            <a:off x="731520" y="1645920"/>
            <a:ext cx="777240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THIẾT KẾ CPU 4-BIT</a:t>
            </a:r>
            <a:endParaRPr lang="en-US" sz="4000" dirty="0"/>
          </a:p>
        </p:txBody>
      </p:sp>
      <p:sp>
        <p:nvSpPr>
          <p:cNvPr id="4" name="Text 2"/>
          <p:cNvSpPr/>
          <p:nvPr/>
        </p:nvSpPr>
        <p:spPr>
          <a:xfrm>
            <a:off x="731520" y="2468880"/>
            <a:ext cx="77724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Dùng Quy trình Thiết kế Mạch số (RTL Flow)</a:t>
            </a:r>
            <a:endParaRPr lang="en-US" sz="2000" dirty="0"/>
          </a:p>
        </p:txBody>
      </p:sp>
      <p:sp>
        <p:nvSpPr>
          <p:cNvPr id="5" name="Text 3"/>
          <p:cNvSpPr/>
          <p:nvPr/>
        </p:nvSpPr>
        <p:spPr>
          <a:xfrm>
            <a:off x="731520" y="3474720"/>
            <a:ext cx="7772400" cy="91440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Báo cáo Đồ án Môn học: Thiết kế Vi mạch Điện tử</a:t>
            </a:r>
            <a:endParaRPr lang="en-US" sz="1400" dirty="0"/>
          </a:p>
          <a:p>
            <a:pPr indent="0" marL="0">
              <a:buNone/>
            </a:pPr>
            <a:r>
              <a:rPr lang="en-US" sz="1400" i="1" dirty="0">
                <a:solidFill>
                  <a:srgbClr val="FFFFFF"/>
                </a:solidFill>
                <a:latin typeface="Calibri" pitchFamily="34" charset="0"/>
                <a:ea typeface="Calibri" pitchFamily="34" charset="-122"/>
                <a:cs typeface="Calibri" pitchFamily="34" charset="-120"/>
              </a:rPr>
              <a:t>Đề tài số 7 — Mô phỏng kiểm thử RTL (Verilog)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1. Tổng quan Kiến trúc CPU 4-bit</a:t>
            </a:r>
            <a:endParaRPr lang="en-US" sz="2400" dirty="0"/>
          </a:p>
        </p:txBody>
      </p:sp>
      <p:sp>
        <p:nvSpPr>
          <p:cNvPr id="3" name="Shape 1"/>
          <p:cNvSpPr/>
          <p:nvPr/>
        </p:nvSpPr>
        <p:spPr>
          <a:xfrm>
            <a:off x="548640" y="1188720"/>
            <a:ext cx="3840480" cy="3474720"/>
          </a:xfrm>
          <a:prstGeom prst="rect">
            <a:avLst/>
          </a:prstGeom>
          <a:solidFill>
            <a:srgbClr val="F4F7FC"/>
          </a:solidFill>
          <a:ln w="12700">
            <a:solidFill>
              <a:srgbClr val="CADCFC"/>
            </a:solidFill>
            <a:prstDash val="solid"/>
          </a:ln>
        </p:spPr>
      </p:sp>
      <p:sp>
        <p:nvSpPr>
          <p:cNvPr id="4" name="Text 2"/>
          <p:cNvSpPr/>
          <p:nvPr/>
        </p:nvSpPr>
        <p:spPr>
          <a:xfrm>
            <a:off x="731520" y="1371600"/>
            <a:ext cx="3474720" cy="3108960"/>
          </a:xfrm>
          <a:prstGeom prst="rect">
            <a:avLst/>
          </a:prstGeom>
          <a:noFill/>
          <a:ln/>
        </p:spPr>
        <p:txBody>
          <a:bodyPr wrap="square" lIns="0" tIns="0" rIns="0" bIns="0" rtlCol="0" anchor="ctr"/>
          <a:lstStyle/>
          <a:p>
            <a:pPr indent="0" marL="0">
              <a:buNone/>
            </a:pPr>
            <a:r>
              <a:rPr lang="en-US" sz="1600" b="1" dirty="0">
                <a:solidFill>
                  <a:srgbClr val="1E2761"/>
                </a:solidFill>
              </a:rPr>
              <a:t>Đặc tả Kiến trúc (Specifications):
</a:t>
            </a:r>
            <a:pPr indent="0" marL="0">
              <a:buNone/>
            </a:pPr>
            <a:r>
              <a:rPr lang="en-US" sz="1300" b="1" dirty="0">
                <a:solidFill>
                  <a:srgbClr val="1A1A1A"/>
                </a:solidFill>
              </a:rPr>
              <a:t>• Kiến trúc Harvard: </a:t>
            </a:r>
            <a:pPr indent="0" marL="0">
              <a:buNone/>
            </a:pPr>
            <a:r>
              <a:rPr lang="en-US" sz="1300" dirty="0">
                <a:solidFill>
                  <a:srgbClr val="4A4A4A"/>
                </a:solidFill>
              </a:rPr>
              <a:t>ROM (Chỉ lệnh) &amp; RAM (Dữ liệu) tách biệt.
</a:t>
            </a:r>
            <a:pPr indent="0" marL="0">
              <a:buNone/>
            </a:pPr>
            <a:r>
              <a:rPr lang="en-US" sz="1300" b="1" dirty="0">
                <a:solidFill>
                  <a:srgbClr val="1A1A1A"/>
                </a:solidFill>
              </a:rPr>
              <a:t>• Chu kỳ Đơn (Single-cycle): </a:t>
            </a:r>
            <a:pPr indent="0" marL="0">
              <a:buNone/>
            </a:pPr>
            <a:r>
              <a:rPr lang="en-US" sz="1300" dirty="0">
                <a:solidFill>
                  <a:srgbClr val="4A4A4A"/>
                </a:solidFill>
              </a:rPr>
              <a:t>Mỗi lệnh thực thi hoàn tất trong đúng 1 chu kỳ xung clock.
</a:t>
            </a:r>
            <a:pPr indent="0" marL="0">
              <a:buNone/>
            </a:pPr>
            <a:r>
              <a:rPr lang="en-US" sz="1300" b="1" dirty="0">
                <a:solidFill>
                  <a:srgbClr val="1A1A1A"/>
                </a:solidFill>
              </a:rPr>
              <a:t>• Lõi dữ liệu 4-bit: </a:t>
            </a:r>
            <a:pPr indent="0" marL="0">
              <a:buNone/>
            </a:pPr>
            <a:r>
              <a:rPr lang="en-US" sz="1300" dirty="0">
                <a:solidFill>
                  <a:srgbClr val="4A4A4A"/>
                </a:solidFill>
              </a:rPr>
              <a:t>Độ rộng thanh ghi, ALU và RAM dữ liệu là 4-bit.
</a:t>
            </a:r>
            <a:pPr indent="0" marL="0">
              <a:buNone/>
            </a:pPr>
            <a:r>
              <a:rPr lang="en-US" sz="1300" b="1" dirty="0">
                <a:solidFill>
                  <a:srgbClr val="1A1A1A"/>
                </a:solidFill>
              </a:rPr>
              <a:t>• Từ lệnh 8-bit: </a:t>
            </a:r>
            <a:pPr indent="0" marL="0">
              <a:buNone/>
            </a:pPr>
            <a:r>
              <a:rPr lang="en-US" sz="1300" dirty="0">
                <a:solidFill>
                  <a:srgbClr val="4A4A4A"/>
                </a:solidFill>
              </a:rPr>
              <a:t>Opcode 4-bit + Toán hạng 4-bit.
</a:t>
            </a:r>
            <a:pPr indent="0" marL="0">
              <a:buNone/>
            </a:pPr>
            <a:r>
              <a:rPr lang="en-US" sz="1300" b="1" dirty="0">
                <a:solidFill>
                  <a:srgbClr val="1A1A1A"/>
                </a:solidFill>
              </a:rPr>
              <a:t>• Tập thanh ghi: </a:t>
            </a:r>
            <a:pPr indent="0" marL="0">
              <a:buNone/>
            </a:pPr>
            <a:r>
              <a:rPr lang="en-US" sz="1300" dirty="0">
                <a:solidFill>
                  <a:srgbClr val="4A4A4A"/>
                </a:solidFill>
              </a:rPr>
              <a:t>4 thanh ghi đa năng R0–R3 (4-bit). R0 dùng làm accumulator cho LOAD/STORE.</a:t>
            </a:r>
            <a:endParaRPr lang="en-US" sz="1600" dirty="0"/>
          </a:p>
        </p:txBody>
      </p:sp>
      <p:sp>
        <p:nvSpPr>
          <p:cNvPr id="5" name="Shape 3"/>
          <p:cNvSpPr/>
          <p:nvPr/>
        </p:nvSpPr>
        <p:spPr>
          <a:xfrm>
            <a:off x="4754880" y="1188720"/>
            <a:ext cx="3840480" cy="3474720"/>
          </a:xfrm>
          <a:prstGeom prst="rect">
            <a:avLst/>
          </a:prstGeom>
          <a:solidFill>
            <a:srgbClr val="1E2761"/>
          </a:solidFill>
          <a:ln/>
        </p:spPr>
      </p:sp>
      <p:sp>
        <p:nvSpPr>
          <p:cNvPr id="6" name="Text 4"/>
          <p:cNvSpPr/>
          <p:nvPr/>
        </p:nvSpPr>
        <p:spPr>
          <a:xfrm>
            <a:off x="4937760" y="1371600"/>
            <a:ext cx="3474720" cy="3108960"/>
          </a:xfrm>
          <a:prstGeom prst="rect">
            <a:avLst/>
          </a:prstGeom>
          <a:noFill/>
          <a:ln/>
        </p:spPr>
        <p:txBody>
          <a:bodyPr wrap="square" lIns="0" tIns="0" rIns="0" bIns="0" rtlCol="0" anchor="ctr"/>
          <a:lstStyle/>
          <a:p>
            <a:pPr indent="0" marL="0">
              <a:buNone/>
            </a:pPr>
            <a:r>
              <a:rPr lang="en-US" sz="1600" b="1" dirty="0">
                <a:solidFill>
                  <a:srgbClr val="CADCFC"/>
                </a:solidFill>
              </a:rPr>
              <a:t>Mô hình Lập trình &amp; Tài nguyên:
</a:t>
            </a:r>
            <a:pPr indent="0" marL="0">
              <a:buNone/>
            </a:pPr>
            <a:r>
              <a:rPr lang="en-US" sz="1300" b="1" dirty="0">
                <a:solidFill>
                  <a:srgbClr val="FFFFFF"/>
                </a:solidFill>
              </a:rPr>
              <a:t>• Program Counter (PC): </a:t>
            </a:r>
            <a:pPr indent="0" marL="0">
              <a:buNone/>
            </a:pPr>
            <a:r>
              <a:rPr lang="en-US" sz="1300" dirty="0">
                <a:solidFill>
                  <a:srgbClr val="CADCFC"/>
                </a:solidFill>
              </a:rPr>
              <a:t>4-bit, trỏ đến 16 địa chỉ ô nhớ ROM.
</a:t>
            </a:r>
            <a:pPr indent="0" marL="0">
              <a:buNone/>
            </a:pPr>
            <a:r>
              <a:rPr lang="en-US" sz="1300" b="1" dirty="0">
                <a:solidFill>
                  <a:srgbClr val="FFFFFF"/>
                </a:solidFill>
              </a:rPr>
              <a:t>• Bộ nhớ ROM chỉ lệnh: </a:t>
            </a:r>
            <a:pPr indent="0" marL="0">
              <a:buNone/>
            </a:pPr>
            <a:r>
              <a:rPr lang="en-US" sz="1300" dirty="0">
                <a:solidFill>
                  <a:srgbClr val="CADCFC"/>
                </a:solidFill>
              </a:rPr>
              <a:t>Kích thước 16 x 8-bit.
</a:t>
            </a:r>
            <a:pPr indent="0" marL="0">
              <a:buNone/>
            </a:pPr>
            <a:r>
              <a:rPr lang="en-US" sz="1300" b="1" dirty="0">
                <a:solidFill>
                  <a:srgbClr val="FFFFFF"/>
                </a:solidFill>
              </a:rPr>
              <a:t>• Bộ nhớ RAM dữ liệu: </a:t>
            </a:r>
            <a:pPr indent="0" marL="0">
              <a:buNone/>
            </a:pPr>
            <a:r>
              <a:rPr lang="en-US" sz="1300" dirty="0">
                <a:solidFill>
                  <a:srgbClr val="CADCFC"/>
                </a:solidFill>
              </a:rPr>
              <a:t>Kích thước 16 x 4-bit.
</a:t>
            </a:r>
            <a:pPr indent="0" marL="0">
              <a:buNone/>
            </a:pPr>
            <a:r>
              <a:rPr lang="en-US" sz="1300" b="1" dirty="0">
                <a:solidFill>
                  <a:srgbClr val="FFFFFF"/>
                </a:solidFill>
              </a:rPr>
              <a:t>• Các cờ trạng thái ALU: </a:t>
            </a:r>
            <a:pPr indent="0" marL="0">
              <a:buNone/>
            </a:pPr>
            <a:r>
              <a:rPr lang="en-US" sz="1300" dirty="0">
                <a:solidFill>
                  <a:srgbClr val="CADCFC"/>
                </a:solidFill>
              </a:rPr>
              <a:t>Cờ Zero (Z) báo kết quả bằng 0; cờ Negative (N) báo kết quả âm.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2. Tập lệnh (Instruction Set Architecture - ISA)</a:t>
            </a:r>
            <a:endParaRPr lang="en-US" sz="2400" dirty="0"/>
          </a:p>
        </p:txBody>
      </p:sp>
      <p:sp>
        <p:nvSpPr>
          <p:cNvPr id="3" name="Text 1"/>
          <p:cNvSpPr/>
          <p:nvPr/>
        </p:nvSpPr>
        <p:spPr>
          <a:xfrm>
            <a:off x="548640" y="914400"/>
            <a:ext cx="8046720" cy="365760"/>
          </a:xfrm>
          <a:prstGeom prst="rect">
            <a:avLst/>
          </a:prstGeom>
          <a:noFill/>
          <a:ln/>
        </p:spPr>
        <p:txBody>
          <a:bodyPr wrap="square" rtlCol="0" anchor="ctr"/>
          <a:lstStyle/>
          <a:p>
            <a:pPr indent="0" marL="0">
              <a:buNone/>
            </a:pPr>
            <a:r>
              <a:rPr lang="en-US" sz="1300" i="1" dirty="0">
                <a:solidFill>
                  <a:srgbClr val="4A4A4A"/>
                </a:solidFill>
              </a:rPr>
              <a:t>Từ lệnh 8-bit được chia thành: Opcode [7:4] (4-bit) và Operand [3:0] (4-bit).</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3291840"/>
        </p:xfrm>
        <a:graphic>
          <a:graphicData uri="http://schemas.openxmlformats.org/drawingml/2006/table">
            <a:tbl>
              <a:tblPr/>
              <a:tblGrid>
                <a:gridCol w="1097280"/>
                <a:gridCol w="1097280"/>
                <a:gridCol w="1463040"/>
                <a:gridCol w="4389120"/>
              </a:tblGrid>
              <a:tr h="329184">
                <a:tc>
                  <a:txBody>
                    <a:bodyPr/>
                    <a:lstStyle/>
                    <a:p>
                      <a:pPr algn="l" indent="0" marL="0">
                        <a:buNone/>
                      </a:pPr>
                      <a:r>
                        <a:rPr lang="en-US" sz="1100" b="1" dirty="0">
                          <a:solidFill>
                            <a:srgbClr val="FFFFFF"/>
                          </a:solidFill>
                        </a:rPr>
                        <a:t>Lệnh</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rPr>
                        <a:t>Mã máy (Bin)</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rPr>
                        <a:t>Toán hạng</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rPr>
                        <a:t>Mô tả chức năng</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29184">
                <a:tc>
                  <a:txBody>
                    <a:bodyPr/>
                    <a:lstStyle/>
                    <a:p>
                      <a:pPr algn="l" indent="0" marL="0">
                        <a:buNone/>
                      </a:pPr>
                      <a:r>
                        <a:rPr lang="en-US" sz="1100" dirty="0">
                          <a:solidFill>
                            <a:srgbClr val="000000"/>
                          </a:solidFill>
                        </a:rPr>
                        <a:t>LOAD addr</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0001</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addr (4-bit)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Nạp giá trị từ RAM[addr] vào thanh ghi tích lũy R0</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329184">
                <a:tc>
                  <a:txBody>
                    <a:bodyPr/>
                    <a:lstStyle/>
                    <a:p>
                      <a:pPr algn="l" indent="0" marL="0">
                        <a:buNone/>
                      </a:pPr>
                      <a:r>
                        <a:rPr lang="en-US" sz="1100" dirty="0">
                          <a:solidFill>
                            <a:srgbClr val="000000"/>
                          </a:solidFill>
                        </a:rPr>
                        <a:t>STORE addr</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0010</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addr (4-bit)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Lưu giá trị từ thanh ghi R0 vào RAM[addr]</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329184">
                <a:tc>
                  <a:txBody>
                    <a:bodyPr/>
                    <a:lstStyle/>
                    <a:p>
                      <a:pPr algn="l" indent="0" marL="0">
                        <a:buNone/>
                      </a:pPr>
                      <a:r>
                        <a:rPr lang="en-US" sz="1100" dirty="0">
                          <a:solidFill>
                            <a:srgbClr val="000000"/>
                          </a:solidFill>
                        </a:rPr>
                        <a:t>ADD Rd, Rs</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0011</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Rd (2-bit), Rs (2-bit)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Cộng thanh ghi: R[Rd] = R[Rd] + R[Rs]</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329184">
                <a:tc>
                  <a:txBody>
                    <a:bodyPr/>
                    <a:lstStyle/>
                    <a:p>
                      <a:pPr algn="l" indent="0" marL="0">
                        <a:buNone/>
                      </a:pPr>
                      <a:r>
                        <a:rPr lang="en-US" sz="1100" dirty="0">
                          <a:solidFill>
                            <a:srgbClr val="000000"/>
                          </a:solidFill>
                        </a:rPr>
                        <a:t>SUB Rd, Rs</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0100</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Rd (2-bit), Rs (2-bit)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Trừ thanh ghi: R[Rd] = R[Rd] - R[Rs]</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329184">
                <a:tc>
                  <a:txBody>
                    <a:bodyPr/>
                    <a:lstStyle/>
                    <a:p>
                      <a:pPr algn="l" indent="0" marL="0">
                        <a:buNone/>
                      </a:pPr>
                      <a:r>
                        <a:rPr lang="en-US" sz="1100" dirty="0">
                          <a:solidFill>
                            <a:srgbClr val="000000"/>
                          </a:solidFill>
                        </a:rPr>
                        <a:t>MOV Rd, Rs</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0101</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Rd (2-bit), Rs (2-bit)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Copy dữ liệu: R[Rd] = R[Rs]</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329184">
                <a:tc>
                  <a:txBody>
                    <a:bodyPr/>
                    <a:lstStyle/>
                    <a:p>
                      <a:pPr algn="l" indent="0" marL="0">
                        <a:buNone/>
                      </a:pPr>
                      <a:r>
                        <a:rPr lang="en-US" sz="1100" dirty="0">
                          <a:solidFill>
                            <a:srgbClr val="000000"/>
                          </a:solidFill>
                        </a:rPr>
                        <a:t>JMP addr</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0110</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addr (4-bit)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Nhảy không điều kiện: PC = addr</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329184">
                <a:tc>
                  <a:txBody>
                    <a:bodyPr/>
                    <a:lstStyle/>
                    <a:p>
                      <a:pPr algn="l" indent="0" marL="0">
                        <a:buNone/>
                      </a:pPr>
                      <a:r>
                        <a:rPr lang="en-US" sz="1100" dirty="0">
                          <a:solidFill>
                            <a:srgbClr val="000000"/>
                          </a:solidFill>
                        </a:rPr>
                        <a:t>JZ addr</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0111</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addr (4-bit)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Nhảy nếu cờ Zero bật (Z=1): PC = addr</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329184">
                <a:tc>
                  <a:txBody>
                    <a:bodyPr/>
                    <a:lstStyle/>
                    <a:p>
                      <a:pPr algn="l" indent="0" marL="0">
                        <a:buNone/>
                      </a:pPr>
                      <a:r>
                        <a:rPr lang="en-US" sz="1100" dirty="0">
                          <a:solidFill>
                            <a:srgbClr val="000000"/>
                          </a:solidFill>
                        </a:rPr>
                        <a:t>OUT Rs</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1000</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Rs (2-bit)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Xuất giá trị của thanh ghi Rs ra cổng OUT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329184">
                <a:tc>
                  <a:txBody>
                    <a:bodyPr/>
                    <a:lstStyle/>
                    <a:p>
                      <a:pPr algn="l" indent="0" marL="0">
                        <a:buNone/>
                      </a:pPr>
                      <a:r>
                        <a:rPr lang="en-US" sz="1100" dirty="0">
                          <a:solidFill>
                            <a:srgbClr val="000000"/>
                          </a:solidFill>
                        </a:rPr>
                        <a:t>HALT</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1111</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Không có</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l" indent="0" marL="0">
                        <a:buNone/>
                      </a:pPr>
                      <a:r>
                        <a:rPr lang="en-US" sz="1100" dirty="0">
                          <a:solidFill>
                            <a:srgbClr val="000000"/>
                          </a:solidFill>
                        </a:rPr>
                        <a:t>Dừng chương trình (đóng băng PC)</a:t>
                      </a:r>
                      <a:endParaRPr lang="en-US" sz="11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3. Thiết kế Datapath (Đường đi dữ liệu)</a:t>
            </a:r>
            <a:endParaRPr lang="en-US" sz="2400" dirty="0"/>
          </a:p>
        </p:txBody>
      </p:sp>
      <p:sp>
        <p:nvSpPr>
          <p:cNvPr id="3" name="Shape 1"/>
          <p:cNvSpPr/>
          <p:nvPr/>
        </p:nvSpPr>
        <p:spPr>
          <a:xfrm>
            <a:off x="548640" y="2011680"/>
            <a:ext cx="1280160" cy="1097280"/>
          </a:xfrm>
          <a:prstGeom prst="rect">
            <a:avLst/>
          </a:prstGeom>
          <a:solidFill>
            <a:srgbClr val="F4F7FC"/>
          </a:solidFill>
          <a:ln w="19050">
            <a:solidFill>
              <a:srgbClr val="1E2761"/>
            </a:solidFill>
            <a:prstDash val="solid"/>
          </a:ln>
        </p:spPr>
      </p:sp>
      <p:sp>
        <p:nvSpPr>
          <p:cNvPr id="4" name="Text 2"/>
          <p:cNvSpPr/>
          <p:nvPr/>
        </p:nvSpPr>
        <p:spPr>
          <a:xfrm>
            <a:off x="594360" y="2103120"/>
            <a:ext cx="118872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Program Counter</a:t>
            </a:r>
            <a:endParaRPr lang="en-US" sz="1200" dirty="0"/>
          </a:p>
        </p:txBody>
      </p:sp>
      <p:sp>
        <p:nvSpPr>
          <p:cNvPr id="5" name="Text 3"/>
          <p:cNvSpPr/>
          <p:nvPr/>
        </p:nvSpPr>
        <p:spPr>
          <a:xfrm>
            <a:off x="594360" y="2468880"/>
            <a:ext cx="1188720" cy="548640"/>
          </a:xfrm>
          <a:prstGeom prst="rect">
            <a:avLst/>
          </a:prstGeom>
          <a:noFill/>
          <a:ln/>
        </p:spPr>
        <p:txBody>
          <a:bodyPr wrap="square" rtlCol="0" anchor="ctr"/>
          <a:lstStyle/>
          <a:p>
            <a:pPr algn="ctr" indent="0" marL="0">
              <a:buNone/>
            </a:pPr>
            <a:r>
              <a:rPr lang="en-US" sz="1000" dirty="0">
                <a:solidFill>
                  <a:srgbClr val="4A4A4A"/>
                </a:solidFill>
                <a:latin typeface="Calibri" pitchFamily="34" charset="0"/>
                <a:ea typeface="Calibri" pitchFamily="34" charset="-122"/>
                <a:cs typeface="Calibri" pitchFamily="34" charset="-120"/>
              </a:rPr>
              <a:t>Trỏ địa chỉ lệnh (4-bit)</a:t>
            </a:r>
            <a:endParaRPr lang="en-US" sz="1000" dirty="0"/>
          </a:p>
        </p:txBody>
      </p:sp>
      <p:sp>
        <p:nvSpPr>
          <p:cNvPr id="6" name="Shape 4"/>
          <p:cNvSpPr/>
          <p:nvPr/>
        </p:nvSpPr>
        <p:spPr>
          <a:xfrm>
            <a:off x="1828800" y="2560320"/>
            <a:ext cx="365760" cy="0"/>
          </a:xfrm>
          <a:prstGeom prst="line">
            <a:avLst/>
          </a:prstGeom>
          <a:noFill/>
          <a:ln w="25400">
            <a:solidFill>
              <a:srgbClr val="39A78E"/>
            </a:solidFill>
            <a:prstDash val="solid"/>
          </a:ln>
        </p:spPr>
      </p:sp>
      <p:sp>
        <p:nvSpPr>
          <p:cNvPr id="7" name="Shape 5"/>
          <p:cNvSpPr/>
          <p:nvPr/>
        </p:nvSpPr>
        <p:spPr>
          <a:xfrm>
            <a:off x="2194560" y="2011680"/>
            <a:ext cx="1280160" cy="1097280"/>
          </a:xfrm>
          <a:prstGeom prst="rect">
            <a:avLst/>
          </a:prstGeom>
          <a:solidFill>
            <a:srgbClr val="F4F7FC"/>
          </a:solidFill>
          <a:ln w="19050">
            <a:solidFill>
              <a:srgbClr val="1E2761"/>
            </a:solidFill>
            <a:prstDash val="solid"/>
          </a:ln>
        </p:spPr>
      </p:sp>
      <p:sp>
        <p:nvSpPr>
          <p:cNvPr id="8" name="Text 6"/>
          <p:cNvSpPr/>
          <p:nvPr/>
        </p:nvSpPr>
        <p:spPr>
          <a:xfrm>
            <a:off x="2240280" y="2103120"/>
            <a:ext cx="118872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Instruction ROM</a:t>
            </a:r>
            <a:endParaRPr lang="en-US" sz="1200" dirty="0"/>
          </a:p>
        </p:txBody>
      </p:sp>
      <p:sp>
        <p:nvSpPr>
          <p:cNvPr id="9" name="Text 7"/>
          <p:cNvSpPr/>
          <p:nvPr/>
        </p:nvSpPr>
        <p:spPr>
          <a:xfrm>
            <a:off x="2240280" y="2468880"/>
            <a:ext cx="1188720" cy="548640"/>
          </a:xfrm>
          <a:prstGeom prst="rect">
            <a:avLst/>
          </a:prstGeom>
          <a:noFill/>
          <a:ln/>
        </p:spPr>
        <p:txBody>
          <a:bodyPr wrap="square" rtlCol="0" anchor="ctr"/>
          <a:lstStyle/>
          <a:p>
            <a:pPr algn="ctr" indent="0" marL="0">
              <a:buNone/>
            </a:pPr>
            <a:r>
              <a:rPr lang="en-US" sz="1000" dirty="0">
                <a:solidFill>
                  <a:srgbClr val="4A4A4A"/>
                </a:solidFill>
                <a:latin typeface="Calibri" pitchFamily="34" charset="0"/>
                <a:ea typeface="Calibri" pitchFamily="34" charset="-122"/>
                <a:cs typeface="Calibri" pitchFamily="34" charset="-120"/>
              </a:rPr>
              <a:t>Chứa chương trình (8-bit)</a:t>
            </a:r>
            <a:endParaRPr lang="en-US" sz="1000" dirty="0"/>
          </a:p>
        </p:txBody>
      </p:sp>
      <p:sp>
        <p:nvSpPr>
          <p:cNvPr id="10" name="Shape 8"/>
          <p:cNvSpPr/>
          <p:nvPr/>
        </p:nvSpPr>
        <p:spPr>
          <a:xfrm>
            <a:off x="3474720" y="2560320"/>
            <a:ext cx="365760" cy="0"/>
          </a:xfrm>
          <a:prstGeom prst="line">
            <a:avLst/>
          </a:prstGeom>
          <a:noFill/>
          <a:ln w="25400">
            <a:solidFill>
              <a:srgbClr val="39A78E"/>
            </a:solidFill>
            <a:prstDash val="solid"/>
          </a:ln>
        </p:spPr>
      </p:sp>
      <p:sp>
        <p:nvSpPr>
          <p:cNvPr id="11" name="Shape 9"/>
          <p:cNvSpPr/>
          <p:nvPr/>
        </p:nvSpPr>
        <p:spPr>
          <a:xfrm>
            <a:off x="3840480" y="2011680"/>
            <a:ext cx="1280160" cy="1097280"/>
          </a:xfrm>
          <a:prstGeom prst="rect">
            <a:avLst/>
          </a:prstGeom>
          <a:solidFill>
            <a:srgbClr val="F4F7FC"/>
          </a:solidFill>
          <a:ln w="19050">
            <a:solidFill>
              <a:srgbClr val="1E2761"/>
            </a:solidFill>
            <a:prstDash val="solid"/>
          </a:ln>
        </p:spPr>
      </p:sp>
      <p:sp>
        <p:nvSpPr>
          <p:cNvPr id="12" name="Text 10"/>
          <p:cNvSpPr/>
          <p:nvPr/>
        </p:nvSpPr>
        <p:spPr>
          <a:xfrm>
            <a:off x="3886200" y="2103120"/>
            <a:ext cx="118872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Register File</a:t>
            </a:r>
            <a:endParaRPr lang="en-US" sz="1200" dirty="0"/>
          </a:p>
        </p:txBody>
      </p:sp>
      <p:sp>
        <p:nvSpPr>
          <p:cNvPr id="13" name="Text 11"/>
          <p:cNvSpPr/>
          <p:nvPr/>
        </p:nvSpPr>
        <p:spPr>
          <a:xfrm>
            <a:off x="3886200" y="2468880"/>
            <a:ext cx="1188720" cy="548640"/>
          </a:xfrm>
          <a:prstGeom prst="rect">
            <a:avLst/>
          </a:prstGeom>
          <a:noFill/>
          <a:ln/>
        </p:spPr>
        <p:txBody>
          <a:bodyPr wrap="square" rtlCol="0" anchor="ctr"/>
          <a:lstStyle/>
          <a:p>
            <a:pPr algn="ctr" indent="0" marL="0">
              <a:buNone/>
            </a:pPr>
            <a:r>
              <a:rPr lang="en-US" sz="1000" dirty="0">
                <a:solidFill>
                  <a:srgbClr val="4A4A4A"/>
                </a:solidFill>
                <a:latin typeface="Calibri" pitchFamily="34" charset="0"/>
                <a:ea typeface="Calibri" pitchFamily="34" charset="-122"/>
                <a:cs typeface="Calibri" pitchFamily="34" charset="-120"/>
              </a:rPr>
              <a:t>4 thanh ghi R0-R3 (4-bit)</a:t>
            </a:r>
            <a:endParaRPr lang="en-US" sz="1000" dirty="0"/>
          </a:p>
        </p:txBody>
      </p:sp>
      <p:sp>
        <p:nvSpPr>
          <p:cNvPr id="14" name="Shape 12"/>
          <p:cNvSpPr/>
          <p:nvPr/>
        </p:nvSpPr>
        <p:spPr>
          <a:xfrm>
            <a:off x="5120640" y="2560320"/>
            <a:ext cx="365760" cy="0"/>
          </a:xfrm>
          <a:prstGeom prst="line">
            <a:avLst/>
          </a:prstGeom>
          <a:noFill/>
          <a:ln w="25400">
            <a:solidFill>
              <a:srgbClr val="39A78E"/>
            </a:solidFill>
            <a:prstDash val="solid"/>
          </a:ln>
        </p:spPr>
      </p:sp>
      <p:sp>
        <p:nvSpPr>
          <p:cNvPr id="15" name="Shape 13"/>
          <p:cNvSpPr/>
          <p:nvPr/>
        </p:nvSpPr>
        <p:spPr>
          <a:xfrm>
            <a:off x="5486400" y="2011680"/>
            <a:ext cx="1280160" cy="1097280"/>
          </a:xfrm>
          <a:prstGeom prst="rect">
            <a:avLst/>
          </a:prstGeom>
          <a:solidFill>
            <a:srgbClr val="F4F7FC"/>
          </a:solidFill>
          <a:ln w="19050">
            <a:solidFill>
              <a:srgbClr val="1E2761"/>
            </a:solidFill>
            <a:prstDash val="solid"/>
          </a:ln>
        </p:spPr>
      </p:sp>
      <p:sp>
        <p:nvSpPr>
          <p:cNvPr id="16" name="Text 14"/>
          <p:cNvSpPr/>
          <p:nvPr/>
        </p:nvSpPr>
        <p:spPr>
          <a:xfrm>
            <a:off x="5532120" y="2103120"/>
            <a:ext cx="118872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ALU 4-bit</a:t>
            </a:r>
            <a:endParaRPr lang="en-US" sz="1200" dirty="0"/>
          </a:p>
        </p:txBody>
      </p:sp>
      <p:sp>
        <p:nvSpPr>
          <p:cNvPr id="17" name="Text 15"/>
          <p:cNvSpPr/>
          <p:nvPr/>
        </p:nvSpPr>
        <p:spPr>
          <a:xfrm>
            <a:off x="5532120" y="2468880"/>
            <a:ext cx="1188720" cy="548640"/>
          </a:xfrm>
          <a:prstGeom prst="rect">
            <a:avLst/>
          </a:prstGeom>
          <a:noFill/>
          <a:ln/>
        </p:spPr>
        <p:txBody>
          <a:bodyPr wrap="square" rtlCol="0" anchor="ctr"/>
          <a:lstStyle/>
          <a:p>
            <a:pPr algn="ctr" indent="0" marL="0">
              <a:buNone/>
            </a:pPr>
            <a:r>
              <a:rPr lang="en-US" sz="1000" dirty="0">
                <a:solidFill>
                  <a:srgbClr val="4A4A4A"/>
                </a:solidFill>
                <a:latin typeface="Calibri" pitchFamily="34" charset="0"/>
                <a:ea typeface="Calibri" pitchFamily="34" charset="-122"/>
                <a:cs typeface="Calibri" pitchFamily="34" charset="-120"/>
              </a:rPr>
              <a:t>Cộng, trừ &amp; tính cờ Z, N</a:t>
            </a:r>
            <a:endParaRPr lang="en-US" sz="1000" dirty="0"/>
          </a:p>
        </p:txBody>
      </p:sp>
      <p:sp>
        <p:nvSpPr>
          <p:cNvPr id="18" name="Shape 16"/>
          <p:cNvSpPr/>
          <p:nvPr/>
        </p:nvSpPr>
        <p:spPr>
          <a:xfrm>
            <a:off x="6766560" y="2560320"/>
            <a:ext cx="365760" cy="0"/>
          </a:xfrm>
          <a:prstGeom prst="line">
            <a:avLst/>
          </a:prstGeom>
          <a:noFill/>
          <a:ln w="25400">
            <a:solidFill>
              <a:srgbClr val="39A78E"/>
            </a:solidFill>
            <a:prstDash val="solid"/>
          </a:ln>
        </p:spPr>
      </p:sp>
      <p:sp>
        <p:nvSpPr>
          <p:cNvPr id="19" name="Shape 17"/>
          <p:cNvSpPr/>
          <p:nvPr/>
        </p:nvSpPr>
        <p:spPr>
          <a:xfrm>
            <a:off x="7132320" y="2011680"/>
            <a:ext cx="1280160" cy="1097280"/>
          </a:xfrm>
          <a:prstGeom prst="rect">
            <a:avLst/>
          </a:prstGeom>
          <a:solidFill>
            <a:srgbClr val="F4F7FC"/>
          </a:solidFill>
          <a:ln w="19050">
            <a:solidFill>
              <a:srgbClr val="1E2761"/>
            </a:solidFill>
            <a:prstDash val="solid"/>
          </a:ln>
        </p:spPr>
      </p:sp>
      <p:sp>
        <p:nvSpPr>
          <p:cNvPr id="20" name="Text 18"/>
          <p:cNvSpPr/>
          <p:nvPr/>
        </p:nvSpPr>
        <p:spPr>
          <a:xfrm>
            <a:off x="7178040" y="2103120"/>
            <a:ext cx="118872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Data Memory</a:t>
            </a:r>
            <a:endParaRPr lang="en-US" sz="1200" dirty="0"/>
          </a:p>
        </p:txBody>
      </p:sp>
      <p:sp>
        <p:nvSpPr>
          <p:cNvPr id="21" name="Text 19"/>
          <p:cNvSpPr/>
          <p:nvPr/>
        </p:nvSpPr>
        <p:spPr>
          <a:xfrm>
            <a:off x="7178040" y="2468880"/>
            <a:ext cx="1188720" cy="548640"/>
          </a:xfrm>
          <a:prstGeom prst="rect">
            <a:avLst/>
          </a:prstGeom>
          <a:noFill/>
          <a:ln/>
        </p:spPr>
        <p:txBody>
          <a:bodyPr wrap="square" rtlCol="0" anchor="ctr"/>
          <a:lstStyle/>
          <a:p>
            <a:pPr algn="ctr" indent="0" marL="0">
              <a:buNone/>
            </a:pPr>
            <a:r>
              <a:rPr lang="en-US" sz="1000" dirty="0">
                <a:solidFill>
                  <a:srgbClr val="4A4A4A"/>
                </a:solidFill>
                <a:latin typeface="Calibri" pitchFamily="34" charset="0"/>
                <a:ea typeface="Calibri" pitchFamily="34" charset="-122"/>
                <a:cs typeface="Calibri" pitchFamily="34" charset="-120"/>
              </a:rPr>
              <a:t>RAM lưu dữ liệu (16x4)</a:t>
            </a:r>
            <a:endParaRPr lang="en-US" sz="1000" dirty="0"/>
          </a:p>
        </p:txBody>
      </p:sp>
      <p:sp>
        <p:nvSpPr>
          <p:cNvPr id="22" name="Shape 20"/>
          <p:cNvSpPr/>
          <p:nvPr/>
        </p:nvSpPr>
        <p:spPr>
          <a:xfrm>
            <a:off x="5669280" y="3474720"/>
            <a:ext cx="914400" cy="914400"/>
          </a:xfrm>
          <a:prstGeom prst="ellipse">
            <a:avLst/>
          </a:prstGeom>
          <a:solidFill>
            <a:srgbClr val="39A78E"/>
          </a:solidFill>
          <a:ln w="12700">
            <a:solidFill>
              <a:srgbClr val="FFFFFF"/>
            </a:solidFill>
            <a:prstDash val="solid"/>
          </a:ln>
        </p:spPr>
      </p:sp>
      <p:sp>
        <p:nvSpPr>
          <p:cNvPr id="23" name="Text 21"/>
          <p:cNvSpPr/>
          <p:nvPr/>
        </p:nvSpPr>
        <p:spPr>
          <a:xfrm>
            <a:off x="5669280" y="3749040"/>
            <a:ext cx="9144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Cổng OUT</a:t>
            </a:r>
            <a:endParaRPr lang="en-US" sz="1100" dirty="0"/>
          </a:p>
        </p:txBody>
      </p:sp>
      <p:sp>
        <p:nvSpPr>
          <p:cNvPr id="24" name="Shape 22"/>
          <p:cNvSpPr/>
          <p:nvPr/>
        </p:nvSpPr>
        <p:spPr>
          <a:xfrm>
            <a:off x="6126480" y="3108960"/>
            <a:ext cx="0" cy="365760"/>
          </a:xfrm>
          <a:prstGeom prst="line">
            <a:avLst/>
          </a:prstGeom>
          <a:noFill/>
          <a:ln w="25400">
            <a:solidFill>
              <a:srgbClr val="39A78E"/>
            </a:solidFill>
            <a:prstDash val="solid"/>
          </a:ln>
        </p:spPr>
      </p:sp>
      <p:sp>
        <p:nvSpPr>
          <p:cNvPr id="25" name="Text 23"/>
          <p:cNvSpPr/>
          <p:nvPr/>
        </p:nvSpPr>
        <p:spPr>
          <a:xfrm>
            <a:off x="548640" y="4389120"/>
            <a:ext cx="8046720" cy="548640"/>
          </a:xfrm>
          <a:prstGeom prst="rect">
            <a:avLst/>
          </a:prstGeom>
          <a:noFill/>
          <a:ln/>
        </p:spPr>
        <p:txBody>
          <a:bodyPr wrap="square" rtlCol="0" anchor="ctr"/>
          <a:lstStyle/>
          <a:p>
            <a:pPr indent="0" marL="0">
              <a:buNone/>
            </a:pPr>
            <a:r>
              <a:rPr lang="en-US" sz="1100" i="1" dirty="0">
                <a:solidFill>
                  <a:srgbClr val="4A4A4A"/>
                </a:solidFill>
              </a:rPr>
              <a:t>Mạch thiết kế theo mô hình Single-cycle: trong 1 chu kỳ xung clock, lệnh được nạp từ ROM, giải mã tại Control Unit, đọc dữ liệu từ thanh ghi, tính toán qua ALU, ghi ngược lại thanh ghi hoặc RAM, và PC tăng lên 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4. Khối điều khiển (Control Unit)</a:t>
            </a:r>
            <a:endParaRPr lang="en-US" sz="2400" dirty="0"/>
          </a:p>
        </p:txBody>
      </p:sp>
      <p:sp>
        <p:nvSpPr>
          <p:cNvPr id="3" name="Shape 1"/>
          <p:cNvSpPr/>
          <p:nvPr/>
        </p:nvSpPr>
        <p:spPr>
          <a:xfrm>
            <a:off x="548640" y="1188720"/>
            <a:ext cx="2743200" cy="3474720"/>
          </a:xfrm>
          <a:prstGeom prst="rect">
            <a:avLst/>
          </a:prstGeom>
          <a:solidFill>
            <a:srgbClr val="1E2761"/>
          </a:solidFill>
          <a:ln/>
        </p:spPr>
      </p:sp>
      <p:sp>
        <p:nvSpPr>
          <p:cNvPr id="4" name="Text 2"/>
          <p:cNvSpPr/>
          <p:nvPr/>
        </p:nvSpPr>
        <p:spPr>
          <a:xfrm>
            <a:off x="731520" y="1371600"/>
            <a:ext cx="2377440" cy="3108960"/>
          </a:xfrm>
          <a:prstGeom prst="rect">
            <a:avLst/>
          </a:prstGeom>
          <a:noFill/>
          <a:ln/>
        </p:spPr>
        <p:txBody>
          <a:bodyPr wrap="square" lIns="0" tIns="0" rIns="0" bIns="0" rtlCol="0" anchor="ctr"/>
          <a:lstStyle/>
          <a:p>
            <a:pPr indent="0" marL="0">
              <a:buNone/>
            </a:pPr>
            <a:r>
              <a:rPr lang="en-US" sz="1600" b="1" dirty="0">
                <a:solidFill>
                  <a:srgbClr val="CADCFC"/>
                </a:solidFill>
              </a:rPr>
              <a:t>Nhiệm vụ của CU:
</a:t>
            </a:r>
            <a:pPr indent="0" marL="0">
              <a:buNone/>
            </a:pPr>
            <a:r>
              <a:rPr lang="en-US" sz="1300" b="1" dirty="0">
                <a:solidFill>
                  <a:srgbClr val="FFFFFF"/>
                </a:solidFill>
              </a:rPr>
              <a:t>• Giải mã Opcode: </a:t>
            </a:r>
            <a:pPr indent="0" marL="0">
              <a:buNone/>
            </a:pPr>
            <a:r>
              <a:rPr lang="en-US" sz="1200" dirty="0">
                <a:solidFill>
                  <a:srgbClr val="CADCFC"/>
                </a:solidFill>
              </a:rPr>
              <a:t>Nhận 4 bit cao của lệnh [7:4] đưa vào mạch giải mã tổ hợp.
</a:t>
            </a:r>
            <a:pPr indent="0" marL="0">
              <a:buNone/>
            </a:pPr>
            <a:r>
              <a:rPr lang="en-US" sz="1300" b="1" dirty="0">
                <a:solidFill>
                  <a:srgbClr val="FFFFFF"/>
                </a:solidFill>
              </a:rPr>
              <a:t>• Sinh tín hiệu điều khiển: </a:t>
            </a:r>
            <a:pPr indent="0" marL="0">
              <a:buNone/>
            </a:pPr>
            <a:r>
              <a:rPr lang="en-US" sz="1200" dirty="0">
                <a:solidFill>
                  <a:srgbClr val="CADCFC"/>
                </a:solidFill>
              </a:rPr>
              <a:t>Sinh các tín hiệu chọn đường multiplexer, cho phép ghi RAM (mem_write), ghi thanh ghi (reg_write).
</a:t>
            </a:r>
            <a:pPr indent="0" marL="0">
              <a:buNone/>
            </a:pPr>
            <a:r>
              <a:rPr lang="en-US" sz="1300" b="1" dirty="0">
                <a:solidFill>
                  <a:srgbClr val="FFFFFF"/>
                </a:solidFill>
              </a:rPr>
              <a:t>• Điều khiển rẽ nhánh: </a:t>
            </a:r>
            <a:pPr indent="0" marL="0">
              <a:buNone/>
            </a:pPr>
            <a:r>
              <a:rPr lang="en-US" sz="1200" dirty="0">
                <a:solidFill>
                  <a:srgbClr val="CADCFC"/>
                </a:solidFill>
              </a:rPr>
              <a:t>Phối hợp với cờ Z từ ALU để sinh tín hiệu nhảy PC (pc_src).</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474720" y="1188720"/>
          <a:ext cx="5120640" cy="3474720"/>
        </p:xfrm>
        <a:graphic>
          <a:graphicData uri="http://schemas.openxmlformats.org/drawingml/2006/table">
            <a:tbl>
              <a:tblPr/>
              <a:tblGrid>
                <a:gridCol w="1005840"/>
                <a:gridCol w="640080"/>
                <a:gridCol w="731520"/>
                <a:gridCol w="914400"/>
                <a:gridCol w="640080"/>
                <a:gridCol w="640080"/>
                <a:gridCol w="548640"/>
              </a:tblGrid>
              <a:tr h="434340">
                <a:tc>
                  <a:txBody>
                    <a:bodyPr/>
                    <a:lstStyle/>
                    <a:p>
                      <a:pPr algn="ctr" indent="0" marL="0">
                        <a:buNone/>
                      </a:pPr>
                      <a:r>
                        <a:rPr lang="en-US" sz="1000" b="1" dirty="0">
                          <a:solidFill>
                            <a:srgbClr val="FFFFFF"/>
                          </a:solidFill>
                        </a:rPr>
                        <a:t>Lệnh</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9A78E"/>
                    </a:solidFill>
                  </a:tcPr>
                </a:tc>
                <a:tc>
                  <a:txBody>
                    <a:bodyPr/>
                    <a:lstStyle/>
                    <a:p>
                      <a:pPr algn="ctr" indent="0" marL="0">
                        <a:buNone/>
                      </a:pPr>
                      <a:r>
                        <a:rPr lang="en-US" sz="1000" b="1" dirty="0">
                          <a:solidFill>
                            <a:srgbClr val="FFFFFF"/>
                          </a:solidFill>
                        </a:rPr>
                        <a:t>RegWr</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9A78E"/>
                    </a:solidFill>
                  </a:tcPr>
                </a:tc>
                <a:tc>
                  <a:txBody>
                    <a:bodyPr/>
                    <a:lstStyle/>
                    <a:p>
                      <a:pPr algn="ctr" indent="0" marL="0">
                        <a:buNone/>
                      </a:pPr>
                      <a:r>
                        <a:rPr lang="en-US" sz="1000" b="1" dirty="0">
                          <a:solidFill>
                            <a:srgbClr val="FFFFFF"/>
                          </a:solidFill>
                        </a:rPr>
                        <a:t>ALUSrc</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9A78E"/>
                    </a:solidFill>
                  </a:tcPr>
                </a:tc>
                <a:tc>
                  <a:txBody>
                    <a:bodyPr/>
                    <a:lstStyle/>
                    <a:p>
                      <a:pPr algn="ctr" indent="0" marL="0">
                        <a:buNone/>
                      </a:pPr>
                      <a:r>
                        <a:rPr lang="en-US" sz="1000" b="1" dirty="0">
                          <a:solidFill>
                            <a:srgbClr val="FFFFFF"/>
                          </a:solidFill>
                        </a:rPr>
                        <a:t>ALUOp</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9A78E"/>
                    </a:solidFill>
                  </a:tcPr>
                </a:tc>
                <a:tc>
                  <a:txBody>
                    <a:bodyPr/>
                    <a:lstStyle/>
                    <a:p>
                      <a:pPr algn="ctr" indent="0" marL="0">
                        <a:buNone/>
                      </a:pPr>
                      <a:r>
                        <a:rPr lang="en-US" sz="1000" b="1" dirty="0">
                          <a:solidFill>
                            <a:srgbClr val="FFFFFF"/>
                          </a:solidFill>
                        </a:rPr>
                        <a:t>MemRd</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9A78E"/>
                    </a:solidFill>
                  </a:tcPr>
                </a:tc>
                <a:tc>
                  <a:txBody>
                    <a:bodyPr/>
                    <a:lstStyle/>
                    <a:p>
                      <a:pPr algn="ctr" indent="0" marL="0">
                        <a:buNone/>
                      </a:pPr>
                      <a:r>
                        <a:rPr lang="en-US" sz="1000" b="1" dirty="0">
                          <a:solidFill>
                            <a:srgbClr val="FFFFFF"/>
                          </a:solidFill>
                        </a:rPr>
                        <a:t>MemWr</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9A78E"/>
                    </a:solidFill>
                  </a:tcPr>
                </a:tc>
                <a:tc>
                  <a:txBody>
                    <a:bodyPr/>
                    <a:lstStyle/>
                    <a:p>
                      <a:pPr algn="ctr" indent="0" marL="0">
                        <a:buNone/>
                      </a:pPr>
                      <a:r>
                        <a:rPr lang="en-US" sz="1000" b="1" dirty="0">
                          <a:solidFill>
                            <a:srgbClr val="FFFFFF"/>
                          </a:solidFill>
                        </a:rPr>
                        <a:t>MemToReg</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39A78E"/>
                    </a:solidFill>
                  </a:tcPr>
                </a:tc>
              </a:tr>
              <a:tr h="434340">
                <a:tc>
                  <a:txBody>
                    <a:bodyPr/>
                    <a:lstStyle/>
                    <a:p>
                      <a:pPr algn="ctr" indent="0" marL="0">
                        <a:buNone/>
                      </a:pPr>
                      <a:r>
                        <a:rPr lang="en-US" sz="1000" dirty="0">
                          <a:solidFill>
                            <a:srgbClr val="000000"/>
                          </a:solidFill>
                        </a:rPr>
                        <a:t>LOAD</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 (Mem)</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000 (Pass)</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 (Mem)</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34340">
                <a:tc>
                  <a:txBody>
                    <a:bodyPr/>
                    <a:lstStyle/>
                    <a:p>
                      <a:pPr algn="ctr" indent="0" marL="0">
                        <a:buNone/>
                      </a:pPr>
                      <a:r>
                        <a:rPr lang="en-US" sz="1000" dirty="0">
                          <a:solidFill>
                            <a:srgbClr val="000000"/>
                          </a:solidFill>
                        </a:rPr>
                        <a:t>STORE</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 (Mem)</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000 (Pass)</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x</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34340">
                <a:tc>
                  <a:txBody>
                    <a:bodyPr/>
                    <a:lstStyle/>
                    <a:p>
                      <a:pPr algn="ctr" indent="0" marL="0">
                        <a:buNone/>
                      </a:pPr>
                      <a:r>
                        <a:rPr lang="en-US" sz="1000" dirty="0">
                          <a:solidFill>
                            <a:srgbClr val="000000"/>
                          </a:solidFill>
                        </a:rPr>
                        <a:t>ADD</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 (Reg)</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001 (Add)</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 (ALU)</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34340">
                <a:tc>
                  <a:txBody>
                    <a:bodyPr/>
                    <a:lstStyle/>
                    <a:p>
                      <a:pPr algn="ctr" indent="0" marL="0">
                        <a:buNone/>
                      </a:pPr>
                      <a:r>
                        <a:rPr lang="en-US" sz="1000" dirty="0">
                          <a:solidFill>
                            <a:srgbClr val="000000"/>
                          </a:solidFill>
                        </a:rPr>
                        <a:t>SUB</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 (Reg)</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010 (Sub)</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 (ALU)</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34340">
                <a:tc>
                  <a:txBody>
                    <a:bodyPr/>
                    <a:lstStyle/>
                    <a:p>
                      <a:pPr algn="ctr" indent="0" marL="0">
                        <a:buNone/>
                      </a:pPr>
                      <a:r>
                        <a:rPr lang="en-US" sz="1000" dirty="0">
                          <a:solidFill>
                            <a:srgbClr val="000000"/>
                          </a:solidFill>
                        </a:rPr>
                        <a:t>MOV</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1</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 (Reg)</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011 (Mov)</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 (ALU)</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34340">
                <a:tc>
                  <a:txBody>
                    <a:bodyPr/>
                    <a:lstStyle/>
                    <a:p>
                      <a:pPr algn="ctr" indent="0" marL="0">
                        <a:buNone/>
                      </a:pPr>
                      <a:r>
                        <a:rPr lang="en-US" sz="1000" dirty="0">
                          <a:solidFill>
                            <a:srgbClr val="000000"/>
                          </a:solidFill>
                        </a:rPr>
                        <a:t>JMP / JZ</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x</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xxx</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x</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r h="434340">
                <a:tc>
                  <a:txBody>
                    <a:bodyPr/>
                    <a:lstStyle/>
                    <a:p>
                      <a:pPr algn="ctr" indent="0" marL="0">
                        <a:buNone/>
                      </a:pPr>
                      <a:r>
                        <a:rPr lang="en-US" sz="1000" dirty="0">
                          <a:solidFill>
                            <a:srgbClr val="000000"/>
                          </a:solidFill>
                        </a:rPr>
                        <a:t>OUT</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011 (Pass)</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0</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algn="ctr" indent="0" marL="0">
                        <a:buNone/>
                      </a:pPr>
                      <a:r>
                        <a:rPr lang="en-US" sz="1000" dirty="0">
                          <a:solidFill>
                            <a:srgbClr val="000000"/>
                          </a:solidFill>
                        </a:rPr>
                        <a:t>x</a:t>
                      </a:r>
                      <a:endParaRPr lang="en-US" sz="1000" dirty="0"/>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5. Kết quả mô phỏng trên Icarus Verilog</a:t>
            </a:r>
            <a:endParaRPr lang="en-US" sz="2400" dirty="0"/>
          </a:p>
        </p:txBody>
      </p:sp>
      <p:sp>
        <p:nvSpPr>
          <p:cNvPr id="3" name="Shape 1"/>
          <p:cNvSpPr/>
          <p:nvPr/>
        </p:nvSpPr>
        <p:spPr>
          <a:xfrm>
            <a:off x="548640" y="1188720"/>
            <a:ext cx="3840480" cy="3474720"/>
          </a:xfrm>
          <a:prstGeom prst="rect">
            <a:avLst/>
          </a:prstGeom>
          <a:solidFill>
            <a:srgbClr val="F4F7FC"/>
          </a:solidFill>
          <a:ln w="12700">
            <a:solidFill>
              <a:srgbClr val="CADCFC"/>
            </a:solidFill>
            <a:prstDash val="solid"/>
          </a:ln>
        </p:spPr>
      </p:sp>
      <p:sp>
        <p:nvSpPr>
          <p:cNvPr id="4" name="Text 2"/>
          <p:cNvSpPr/>
          <p:nvPr/>
        </p:nvSpPr>
        <p:spPr>
          <a:xfrm>
            <a:off x="731520" y="1371600"/>
            <a:ext cx="3474720" cy="3108960"/>
          </a:xfrm>
          <a:prstGeom prst="rect">
            <a:avLst/>
          </a:prstGeom>
          <a:noFill/>
          <a:ln/>
        </p:spPr>
        <p:txBody>
          <a:bodyPr wrap="square" lIns="0" tIns="0" rIns="0" bIns="0" rtlCol="0" anchor="ctr"/>
          <a:lstStyle/>
          <a:p>
            <a:pPr indent="0" marL="0">
              <a:buNone/>
            </a:pPr>
            <a:r>
              <a:rPr lang="en-US" sz="1600" b="1" dirty="0">
                <a:solidFill>
                  <a:srgbClr val="1E2761"/>
                </a:solidFill>
              </a:rPr>
              <a:t>Chương trình kiểm thử (Program.mem):
</a:t>
            </a:r>
            <a:pPr indent="0" marL="0">
              <a:buNone/>
            </a:pPr>
            <a:r>
              <a:rPr lang="en-US" sz="1300" dirty="0">
                <a:solidFill>
                  <a:srgbClr val="1A1A1A"/>
                </a:solidFill>
              </a:rPr>
              <a:t>Chương trình thực hiện phép tính:
</a:t>
            </a:r>
            <a:pPr indent="0" marL="0">
              <a:buNone/>
            </a:pPr>
            <a:r>
              <a:rPr lang="en-US" sz="1300" dirty="0">
                <a:solidFill>
                  <a:srgbClr val="4A4A4A"/>
                </a:solidFill>
              </a:rPr>
              <a:t>Cộng hai số tại RAM[10] = 5 và RAM[11] = 7. Kết quả ghi vào RAM[12].
</a:t>
            </a:r>
            <a:pPr indent="0" marL="0">
              <a:buNone/>
            </a:pPr>
            <a:r>
              <a:rPr lang="en-US" sz="1100" dirty="0">
                <a:solidFill>
                  <a:srgbClr val="1E2761"/>
                </a:solidFill>
                <a:latin typeface="Consolas" pitchFamily="34" charset="0"/>
                <a:ea typeface="Consolas" pitchFamily="34" charset="-122"/>
                <a:cs typeface="Consolas" pitchFamily="34" charset="-120"/>
              </a:rPr>
              <a:t>0x0: LOAD 10      ; R0 = RAM[10] (5)
</a:t>
            </a:r>
            <a:pPr indent="0" marL="0">
              <a:buNone/>
            </a:pPr>
            <a:r>
              <a:rPr lang="en-US" sz="1100" dirty="0">
                <a:solidFill>
                  <a:srgbClr val="1E2761"/>
                </a:solidFill>
                <a:latin typeface="Consolas" pitchFamily="34" charset="0"/>
                <a:ea typeface="Consolas" pitchFamily="34" charset="-122"/>
                <a:cs typeface="Consolas" pitchFamily="34" charset="-120"/>
              </a:rPr>
              <a:t>0x1: MOV  R1, R0  ; R1 = R0 (5)
</a:t>
            </a:r>
            <a:pPr indent="0" marL="0">
              <a:buNone/>
            </a:pPr>
            <a:r>
              <a:rPr lang="en-US" sz="1100" dirty="0">
                <a:solidFill>
                  <a:srgbClr val="1E2761"/>
                </a:solidFill>
                <a:latin typeface="Consolas" pitchFamily="34" charset="0"/>
                <a:ea typeface="Consolas" pitchFamily="34" charset="-122"/>
                <a:cs typeface="Consolas" pitchFamily="34" charset="-120"/>
              </a:rPr>
              <a:t>0x2: LOAD 11      ; R0 = RAM[11] (7)
</a:t>
            </a:r>
            <a:pPr indent="0" marL="0">
              <a:buNone/>
            </a:pPr>
            <a:r>
              <a:rPr lang="en-US" sz="1100" dirty="0">
                <a:solidFill>
                  <a:srgbClr val="1E2761"/>
                </a:solidFill>
                <a:latin typeface="Consolas" pitchFamily="34" charset="0"/>
                <a:ea typeface="Consolas" pitchFamily="34" charset="-122"/>
                <a:cs typeface="Consolas" pitchFamily="34" charset="-120"/>
              </a:rPr>
              <a:t>0x3: ADD  R1, R0  ; R1 = R1 + R0 (12)
</a:t>
            </a:r>
            <a:pPr indent="0" marL="0">
              <a:buNone/>
            </a:pPr>
            <a:r>
              <a:rPr lang="en-US" sz="1100" dirty="0">
                <a:solidFill>
                  <a:srgbClr val="1E2761"/>
                </a:solidFill>
                <a:latin typeface="Consolas" pitchFamily="34" charset="0"/>
                <a:ea typeface="Consolas" pitchFamily="34" charset="-122"/>
                <a:cs typeface="Consolas" pitchFamily="34" charset="-120"/>
              </a:rPr>
              <a:t>0x4: MOV  R0, R1  ; R0 = R1 (12)
</a:t>
            </a:r>
            <a:pPr indent="0" marL="0">
              <a:buNone/>
            </a:pPr>
            <a:r>
              <a:rPr lang="en-US" sz="1100" dirty="0">
                <a:solidFill>
                  <a:srgbClr val="1E2761"/>
                </a:solidFill>
                <a:latin typeface="Consolas" pitchFamily="34" charset="0"/>
                <a:ea typeface="Consolas" pitchFamily="34" charset="-122"/>
                <a:cs typeface="Consolas" pitchFamily="34" charset="-120"/>
              </a:rPr>
              <a:t>0x5: STORE 12     ; RAM[12] = R0 (12)
</a:t>
            </a:r>
            <a:pPr indent="0" marL="0">
              <a:buNone/>
            </a:pPr>
            <a:r>
              <a:rPr lang="en-US" sz="1100" dirty="0">
                <a:solidFill>
                  <a:srgbClr val="1E2761"/>
                </a:solidFill>
                <a:latin typeface="Consolas" pitchFamily="34" charset="0"/>
                <a:ea typeface="Consolas" pitchFamily="34" charset="-122"/>
                <a:cs typeface="Consolas" pitchFamily="34" charset="-120"/>
              </a:rPr>
              <a:t>0x6: OUT  R0      ; OUT = 12 (0xC)
</a:t>
            </a:r>
            <a:pPr indent="0" marL="0">
              <a:buNone/>
            </a:pPr>
            <a:r>
              <a:rPr lang="en-US" sz="1100" dirty="0">
                <a:solidFill>
                  <a:srgbClr val="1E2761"/>
                </a:solidFill>
                <a:latin typeface="Consolas" pitchFamily="34" charset="0"/>
                <a:ea typeface="Consolas" pitchFamily="34" charset="-122"/>
                <a:cs typeface="Consolas" pitchFamily="34" charset="-120"/>
              </a:rPr>
              <a:t>0x7: HALT         ; Dừng chương trình</a:t>
            </a:r>
            <a:endParaRPr lang="en-US" sz="1600" dirty="0"/>
          </a:p>
        </p:txBody>
      </p:sp>
      <p:sp>
        <p:nvSpPr>
          <p:cNvPr id="5" name="Shape 3"/>
          <p:cNvSpPr/>
          <p:nvPr/>
        </p:nvSpPr>
        <p:spPr>
          <a:xfrm>
            <a:off x="4754880" y="1188720"/>
            <a:ext cx="3840480" cy="3474720"/>
          </a:xfrm>
          <a:prstGeom prst="rect">
            <a:avLst/>
          </a:prstGeom>
          <a:solidFill>
            <a:srgbClr val="1E2761"/>
          </a:solidFill>
          <a:ln/>
        </p:spPr>
      </p:sp>
      <p:sp>
        <p:nvSpPr>
          <p:cNvPr id="6" name="Text 4"/>
          <p:cNvSpPr/>
          <p:nvPr/>
        </p:nvSpPr>
        <p:spPr>
          <a:xfrm>
            <a:off x="4937760" y="1371600"/>
            <a:ext cx="3474720" cy="3108960"/>
          </a:xfrm>
          <a:prstGeom prst="rect">
            <a:avLst/>
          </a:prstGeom>
          <a:noFill/>
          <a:ln/>
        </p:spPr>
        <p:txBody>
          <a:bodyPr wrap="square" lIns="0" tIns="0" rIns="0" bIns="0" rtlCol="0" anchor="ctr"/>
          <a:lstStyle/>
          <a:p>
            <a:pPr indent="0" marL="0">
              <a:buNone/>
            </a:pPr>
            <a:r>
              <a:rPr lang="en-US" sz="1600" b="1" dirty="0">
                <a:solidFill>
                  <a:srgbClr val="CADCFC"/>
                </a:solidFill>
              </a:rPr>
              <a:t>Kết quả mô phỏng (Simulation Output):
</a:t>
            </a:r>
            <a:pPr indent="0" marL="0">
              <a:buNone/>
            </a:pPr>
            <a:r>
              <a:rPr lang="en-US" sz="1300" dirty="0">
                <a:solidFill>
                  <a:srgbClr val="FFFFFF"/>
                </a:solidFill>
              </a:rPr>
              <a:t>Biên dịch &amp; mô phỏng thành công trên Icarus Verilog v12:
</a:t>
            </a:r>
            <a:pPr indent="0" marL="0">
              <a:buNone/>
            </a:pPr>
            <a:r>
              <a:rPr lang="en-US" sz="1100" dirty="0">
                <a:solidFill>
                  <a:srgbClr val="CADCFC"/>
                </a:solidFill>
                <a:latin typeface="Consolas" pitchFamily="34" charset="0"/>
                <a:ea typeface="Consolas" pitchFamily="34" charset="-122"/>
                <a:cs typeface="Consolas" pitchFamily="34" charset="-120"/>
              </a:rPr>
              <a:t>[TIME: 10] Reset released
</a:t>
            </a:r>
            <a:pPr indent="0" marL="0">
              <a:buNone/>
            </a:pPr>
            <a:r>
              <a:rPr lang="en-US" sz="1100" dirty="0">
                <a:solidFill>
                  <a:srgbClr val="CADCFC"/>
                </a:solidFill>
                <a:latin typeface="Consolas" pitchFamily="34" charset="0"/>
                <a:ea typeface="Consolas" pitchFamily="34" charset="-122"/>
                <a:cs typeface="Consolas" pitchFamily="34" charset="-120"/>
              </a:rPr>
              <a:t>[TIME: 30] PC: 0, Instruction: 1A (LOAD 10)  -&gt; R0: 5
</a:t>
            </a:r>
            <a:pPr indent="0" marL="0">
              <a:buNone/>
            </a:pPr>
            <a:r>
              <a:rPr lang="en-US" sz="1100" dirty="0">
                <a:solidFill>
                  <a:srgbClr val="CADCFC"/>
                </a:solidFill>
                <a:latin typeface="Consolas" pitchFamily="34" charset="0"/>
                <a:ea typeface="Consolas" pitchFamily="34" charset="-122"/>
                <a:cs typeface="Consolas" pitchFamily="34" charset="-120"/>
              </a:rPr>
              <a:t>[TIME: 50] PC: 1, Instruction: 54 (MOV R1,R0) -&gt; R1: 5
</a:t>
            </a:r>
            <a:pPr indent="0" marL="0">
              <a:buNone/>
            </a:pPr>
            <a:r>
              <a:rPr lang="en-US" sz="1100" dirty="0">
                <a:solidFill>
                  <a:srgbClr val="CADCFC"/>
                </a:solidFill>
                <a:latin typeface="Consolas" pitchFamily="34" charset="0"/>
                <a:ea typeface="Consolas" pitchFamily="34" charset="-122"/>
                <a:cs typeface="Consolas" pitchFamily="34" charset="-120"/>
              </a:rPr>
              <a:t>[TIME: 70] PC: 2, Instruction: 1B (LOAD 11)  -&gt; R0: 7
</a:t>
            </a:r>
            <a:pPr indent="0" marL="0">
              <a:buNone/>
            </a:pPr>
            <a:r>
              <a:rPr lang="en-US" sz="1100" dirty="0">
                <a:solidFill>
                  <a:srgbClr val="CADCFC"/>
                </a:solidFill>
                <a:latin typeface="Consolas" pitchFamily="34" charset="0"/>
                <a:ea typeface="Consolas" pitchFamily="34" charset="-122"/>
                <a:cs typeface="Consolas" pitchFamily="34" charset="-120"/>
              </a:rPr>
              <a:t>[TIME: 90] PC: 3, Instruction: 34 (ADD R1,R0) -&gt; R1: 12
</a:t>
            </a:r>
            <a:pPr indent="0" marL="0">
              <a:buNone/>
            </a:pPr>
            <a:r>
              <a:rPr lang="en-US" sz="1100" dirty="0">
                <a:solidFill>
                  <a:srgbClr val="CADCFC"/>
                </a:solidFill>
                <a:latin typeface="Consolas" pitchFamily="34" charset="0"/>
                <a:ea typeface="Consolas" pitchFamily="34" charset="-122"/>
                <a:cs typeface="Consolas" pitchFamily="34" charset="-120"/>
              </a:rPr>
              <a:t>[TIME: 130] PC: 5, Instruction: 2C (STORE 12) -&gt; RAM[12]: 12
</a:t>
            </a:r>
            <a:pPr indent="0" marL="0">
              <a:buNone/>
            </a:pPr>
            <a:r>
              <a:rPr lang="en-US" sz="1100" dirty="0">
                <a:solidFill>
                  <a:srgbClr val="CADCFC"/>
                </a:solidFill>
                <a:latin typeface="Consolas" pitchFamily="34" charset="0"/>
                <a:ea typeface="Consolas" pitchFamily="34" charset="-122"/>
                <a:cs typeface="Consolas" pitchFamily="34" charset="-120"/>
              </a:rPr>
              <a:t>[TIME: 150] PC: 6, Instruction: 80 (OUT R0)    -&gt; Cổng OUT: 12
</a:t>
            </a:r>
            <a:pPr indent="0" marL="0">
              <a:buNone/>
            </a:pPr>
            <a:r>
              <a:rPr lang="en-US" sz="1200" i="1" dirty="0">
                <a:solidFill>
                  <a:srgbClr val="FFFFFF"/>
                </a:solidFill>
              </a:rPr>
              <a:t>=&gt; Đạt yêu cầu: Giá trị tại RAM[12] ghi nhận đúng 12 (0xC), cổng OUT xuất đúng giá trị 12, chương trình kết thúc tại lệnh HALT.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1645920"/>
            <a:ext cx="91440" cy="2011680"/>
          </a:xfrm>
          <a:prstGeom prst="rect">
            <a:avLst/>
          </a:prstGeom>
          <a:solidFill>
            <a:srgbClr val="39A78E"/>
          </a:solidFill>
          <a:ln/>
        </p:spPr>
      </p:sp>
      <p:sp>
        <p:nvSpPr>
          <p:cNvPr id="3" name="Text 1"/>
          <p:cNvSpPr/>
          <p:nvPr/>
        </p:nvSpPr>
        <p:spPr>
          <a:xfrm>
            <a:off x="731520" y="1645920"/>
            <a:ext cx="7772400" cy="54864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KẾT LUẬN &amp; ĐÁNH GIÁ ĐỒ ÁN</a:t>
            </a:r>
            <a:endParaRPr lang="en-US" sz="3200" dirty="0"/>
          </a:p>
        </p:txBody>
      </p:sp>
      <p:sp>
        <p:nvSpPr>
          <p:cNvPr id="4" name="Text 2"/>
          <p:cNvSpPr/>
          <p:nvPr/>
        </p:nvSpPr>
        <p:spPr>
          <a:xfrm>
            <a:off x="731520" y="2377440"/>
            <a:ext cx="7772400" cy="1828800"/>
          </a:xfrm>
          <a:prstGeom prst="rect">
            <a:avLst/>
          </a:prstGeom>
          <a:noFill/>
          <a:ln/>
        </p:spPr>
        <p:txBody>
          <a:bodyPr wrap="square" lIns="0" tIns="0" rIns="0" bIns="0" rtlCol="0" anchor="ctr"/>
          <a:lstStyle/>
          <a:p>
            <a:pPr indent="0" marL="0">
              <a:buNone/>
            </a:pPr>
            <a:r>
              <a:rPr lang="en-US" sz="1400" b="1" dirty="0">
                <a:solidFill>
                  <a:srgbClr val="FFFFFF"/>
                </a:solidFill>
              </a:rPr>
              <a:t>• Hoàn thành thiết kế mức RTL: </a:t>
            </a:r>
            <a:pPr indent="0" marL="0">
              <a:buNone/>
            </a:pPr>
            <a:r>
              <a:rPr lang="en-US" sz="1400" dirty="0">
                <a:solidFill>
                  <a:srgbClr val="CADCFC"/>
                </a:solidFill>
              </a:rPr>
              <a:t>Đã thiết kế toàn bộ các khối chức năng bằng ngôn ngữ Verilog chuẩn tắc.
</a:t>
            </a:r>
            <a:pPr indent="0" marL="0">
              <a:buNone/>
            </a:pPr>
            <a:r>
              <a:rPr lang="en-US" sz="1400" b="1" dirty="0">
                <a:solidFill>
                  <a:srgbClr val="FFFFFF"/>
                </a:solidFill>
              </a:rPr>
              <a:t>• Khắc phục lỗi zero-delay loop: </a:t>
            </a:r>
            <a:pPr indent="0" marL="0">
              <a:buNone/>
            </a:pPr>
            <a:r>
              <a:rPr lang="en-US" sz="1400" dirty="0">
                <a:solidFill>
                  <a:srgbClr val="CADCFC"/>
                </a:solidFill>
              </a:rPr>
              <a:t>Đã sửa thành công lỗi phản hồi vòng kín tại thời điểm khởi tạo trong Control Unit.
</a:t>
            </a:r>
            <a:pPr indent="0" marL="0">
              <a:buNone/>
            </a:pPr>
            <a:r>
              <a:rPr lang="en-US" sz="1400" b="1" dirty="0">
                <a:solidFill>
                  <a:srgbClr val="FFFFFF"/>
                </a:solidFill>
              </a:rPr>
              <a:t>• Kiểm tra đúng chức năng: </a:t>
            </a:r>
            <a:pPr indent="0" marL="0">
              <a:buNone/>
            </a:pPr>
            <a:r>
              <a:rPr lang="en-US" sz="1400" dirty="0">
                <a:solidFill>
                  <a:srgbClr val="CADCFC"/>
                </a:solidFill>
              </a:rPr>
              <a:t>Chương trình chạy chính xác trên bộ mô phỏng Icarus Verilog và xuất kết quả đúng dạng sóng.
</a:t>
            </a:r>
            <a:pPr indent="0" marL="0">
              <a:buNone/>
            </a:pPr>
            <a:r>
              <a:rPr lang="en-US" sz="1400" b="1" dirty="0">
                <a:solidFill>
                  <a:srgbClr val="FFFFFF"/>
                </a:solidFill>
              </a:rPr>
              <a:t>• Hướng phát triển: </a:t>
            </a:r>
            <a:pPr indent="0" marL="0">
              <a:buNone/>
            </a:pPr>
            <a:r>
              <a:rPr lang="en-US" sz="1400" dirty="0">
                <a:solidFill>
                  <a:srgbClr val="CADCFC"/>
                </a:solidFill>
              </a:rPr>
              <a:t>Tích hợp thêm bộ giải mã hiển thị LED 7 thanh hoặc thực hiện tổng hợp mạch (Synthesis) mức cổng.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Thiet ke CPU 4-Bit dung Quy trinh Thiet ke Mach so</dc:title>
  <dc:subject>PptxGenJS Presentation</dc:subject>
  <dc:creator>Antigravity AI</dc:creator>
  <cp:lastModifiedBy>Antigravity AI</cp:lastModifiedBy>
  <cp:revision>1</cp:revision>
  <dcterms:created xsi:type="dcterms:W3CDTF">2026-07-09T19:22:55Z</dcterms:created>
  <dcterms:modified xsi:type="dcterms:W3CDTF">2026-07-09T19:22:55Z</dcterms:modified>
</cp:coreProperties>
</file>